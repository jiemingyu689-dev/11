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2.xml" ContentType="application/vnd.openxmlformats-officedocument.them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72" r:id="rId4"/>
    <p:sldId id="271" r:id="rId5"/>
    <p:sldId id="261" r:id="rId6"/>
    <p:sldId id="273" r:id="rId7"/>
    <p:sldId id="265" r:id="rId8"/>
    <p:sldId id="264" r:id="rId9"/>
    <p:sldId id="276" r:id="rId10"/>
    <p:sldId id="274" r:id="rId11"/>
    <p:sldId id="277" r:id="rId12"/>
    <p:sldId id="270" r:id="rId13"/>
    <p:sldId id="275" r:id="rId14"/>
    <p:sldId id="269"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D6EC"/>
    <a:srgbClr val="FDFFFB"/>
    <a:srgbClr val="E0F0FD"/>
    <a:srgbClr val="E1EFFC"/>
    <a:srgbClr val="FFFFFF"/>
    <a:srgbClr val="DCDCDC"/>
    <a:srgbClr val="F0F0F0"/>
    <a:srgbClr val="E6E6E6"/>
    <a:srgbClr val="C8C8C8"/>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78" autoAdjust="0"/>
    <p:restoredTop sz="87002" autoAdjust="0"/>
  </p:normalViewPr>
  <p:slideViewPr>
    <p:cSldViewPr snapToGrid="0" showGuides="1">
      <p:cViewPr varScale="1">
        <p:scale>
          <a:sx n="100" d="100"/>
          <a:sy n="100" d="100"/>
        </p:scale>
        <p:origin x="1062" y="84"/>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2025/11/20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2025/11/20</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2025/11/20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2025/11/20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2025/11/20</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2025/11/20</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2025/11/20</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2025/11/20</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2025/11/20</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2025/11/20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2025/11/20</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2025/11/20</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2025/11/20</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5" Type="http://schemas.openxmlformats.org/officeDocument/2006/relationships/image" Target="../media/image1.jpe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5" Type="http://schemas.openxmlformats.org/officeDocument/2006/relationships/image" Target="../media/image2.jpeg"/><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tags" Target="../tags/tag76.xml"/><Relationship Id="rId3" Type="http://schemas.openxmlformats.org/officeDocument/2006/relationships/tags" Target="../tags/tag71.xml"/><Relationship Id="rId7" Type="http://schemas.openxmlformats.org/officeDocument/2006/relationships/tags" Target="../tags/tag75.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9"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tags" Target="../tags/tag84.xml"/><Relationship Id="rId3" Type="http://schemas.openxmlformats.org/officeDocument/2006/relationships/tags" Target="../tags/tag79.xml"/><Relationship Id="rId7" Type="http://schemas.openxmlformats.org/officeDocument/2006/relationships/tags" Target="../tags/tag83.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9"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5" Type="http://schemas.openxmlformats.org/officeDocument/2006/relationships/image" Target="../media/image2.jpeg"/><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tags" Target="../tags/tag90.xml"/><Relationship Id="rId7" Type="http://schemas.openxmlformats.org/officeDocument/2006/relationships/image" Target="../media/image4.jpe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image" Target="../media/image3.jpg"/><Relationship Id="rId5" Type="http://schemas.openxmlformats.org/officeDocument/2006/relationships/image" Target="../media/image2.jpeg"/><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93.xml"/><Relationship Id="rId7" Type="http://schemas.openxmlformats.org/officeDocument/2006/relationships/image" Target="../media/image8.jpg"/><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image" Target="../media/image7.jpg"/><Relationship Id="rId5" Type="http://schemas.openxmlformats.org/officeDocument/2006/relationships/image" Target="../media/image6.jpeg"/><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96.xml"/><Relationship Id="rId7" Type="http://schemas.openxmlformats.org/officeDocument/2006/relationships/image" Target="../media/image10.jp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image" Target="../media/image9.jpg"/><Relationship Id="rId5" Type="http://schemas.openxmlformats.org/officeDocument/2006/relationships/image" Target="../media/image6.jpeg"/><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99.xml"/><Relationship Id="rId7" Type="http://schemas.openxmlformats.org/officeDocument/2006/relationships/image" Target="../media/image12.jpg"/><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image" Target="../media/image11.jpg"/><Relationship Id="rId5" Type="http://schemas.openxmlformats.org/officeDocument/2006/relationships/image" Target="../media/image6.jpeg"/><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102.xml"/><Relationship Id="rId7" Type="http://schemas.openxmlformats.org/officeDocument/2006/relationships/image" Target="../media/image14.jpg"/><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image" Target="../media/image13.jpg"/><Relationship Id="rId5" Type="http://schemas.openxmlformats.org/officeDocument/2006/relationships/image" Target="../media/image6.jpeg"/><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105.xml"/><Relationship Id="rId7" Type="http://schemas.openxmlformats.org/officeDocument/2006/relationships/image" Target="../media/image16.jpg"/><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image" Target="../media/image15.jpg"/><Relationship Id="rId5" Type="http://schemas.openxmlformats.org/officeDocument/2006/relationships/image" Target="../media/image6.jpeg"/><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tags" Target="../tags/tag113.xml"/><Relationship Id="rId3" Type="http://schemas.openxmlformats.org/officeDocument/2006/relationships/tags" Target="../tags/tag108.xml"/><Relationship Id="rId7" Type="http://schemas.openxmlformats.org/officeDocument/2006/relationships/tags" Target="../tags/tag112.xml"/><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tags" Target="../tags/tag111.xml"/><Relationship Id="rId11" Type="http://schemas.openxmlformats.org/officeDocument/2006/relationships/slideLayout" Target="../slideLayouts/slideLayout2.xml"/><Relationship Id="rId5" Type="http://schemas.openxmlformats.org/officeDocument/2006/relationships/tags" Target="../tags/tag110.xml"/><Relationship Id="rId10" Type="http://schemas.openxmlformats.org/officeDocument/2006/relationships/tags" Target="../tags/tag115.xml"/><Relationship Id="rId4" Type="http://schemas.openxmlformats.org/officeDocument/2006/relationships/tags" Target="../tags/tag109.xml"/><Relationship Id="rId9" Type="http://schemas.openxmlformats.org/officeDocument/2006/relationships/tags" Target="../tags/tag114.xml"/></Relationships>
</file>

<file path=ppt/slides/_rels/slide13.xml.rels><?xml version="1.0" encoding="UTF-8" standalone="yes"?>
<Relationships xmlns="http://schemas.openxmlformats.org/package/2006/relationships"><Relationship Id="rId8" Type="http://schemas.openxmlformats.org/officeDocument/2006/relationships/tags" Target="../tags/tag123.xml"/><Relationship Id="rId13" Type="http://schemas.openxmlformats.org/officeDocument/2006/relationships/image" Target="../media/image17.jpeg"/><Relationship Id="rId3" Type="http://schemas.openxmlformats.org/officeDocument/2006/relationships/tags" Target="../tags/tag118.xml"/><Relationship Id="rId7" Type="http://schemas.openxmlformats.org/officeDocument/2006/relationships/tags" Target="../tags/tag122.xml"/><Relationship Id="rId12" Type="http://schemas.openxmlformats.org/officeDocument/2006/relationships/image" Target="../media/image16.jpg"/><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slideLayout" Target="../slideLayouts/slideLayout2.xml"/><Relationship Id="rId5" Type="http://schemas.openxmlformats.org/officeDocument/2006/relationships/tags" Target="../tags/tag120.xml"/><Relationship Id="rId10" Type="http://schemas.openxmlformats.org/officeDocument/2006/relationships/tags" Target="../tags/tag125.xml"/><Relationship Id="rId4" Type="http://schemas.openxmlformats.org/officeDocument/2006/relationships/tags" Target="../tags/tag119.xml"/><Relationship Id="rId9" Type="http://schemas.openxmlformats.org/officeDocument/2006/relationships/tags" Target="../tags/tag124.xml"/></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28.xml"/><Relationship Id="rId7" Type="http://schemas.openxmlformats.org/officeDocument/2006/relationships/tags" Target="../tags/tag132.xml"/><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tags" Target="../tags/tag12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304800"/>
            <a:ext cx="9799200" cy="2570400"/>
          </a:xfrm>
        </p:spPr>
        <p:txBody>
          <a:bodyPr/>
          <a:lstStyle/>
          <a:p>
            <a:r>
              <a:rPr lang="zh-CN" altLang="en-US" sz="3200" dirty="0">
                <a:solidFill>
                  <a:schemeClr val="tx1">
                    <a:lumMod val="65000"/>
                    <a:lumOff val="35000"/>
                  </a:schemeClr>
                </a:solidFill>
              </a:rPr>
              <a:t>基于</a:t>
            </a:r>
            <a:r>
              <a:rPr lang="en-US" altLang="zh-CN" sz="3200" dirty="0">
                <a:solidFill>
                  <a:schemeClr val="tx1">
                    <a:lumMod val="65000"/>
                    <a:lumOff val="35000"/>
                  </a:schemeClr>
                </a:solidFill>
              </a:rPr>
              <a:t> Spring Boot </a:t>
            </a:r>
            <a:r>
              <a:rPr lang="zh-CN" altLang="en-US" sz="3200" dirty="0">
                <a:solidFill>
                  <a:schemeClr val="tx1">
                    <a:lumMod val="65000"/>
                    <a:lumOff val="35000"/>
                  </a:schemeClr>
                </a:solidFill>
              </a:rPr>
              <a:t>的实验室管理系统设计与实现</a:t>
            </a:r>
          </a:p>
        </p:txBody>
      </p:sp>
      <p:sp>
        <p:nvSpPr>
          <p:cNvPr id="3" name="副标题 2"/>
          <p:cNvSpPr>
            <a:spLocks noGrp="1"/>
          </p:cNvSpPr>
          <p:nvPr>
            <p:ph type="subTitle" idx="1"/>
            <p:custDataLst>
              <p:tags r:id="rId3"/>
            </p:custDataLst>
          </p:nvPr>
        </p:nvSpPr>
        <p:spPr>
          <a:xfrm>
            <a:off x="3573700" y="2819355"/>
            <a:ext cx="9799200" cy="1472400"/>
          </a:xfrm>
        </p:spPr>
        <p:txBody>
          <a:bodyPr>
            <a:noAutofit/>
          </a:bodyPr>
          <a:lstStyle/>
          <a:p>
            <a:pPr algn="just"/>
            <a:r>
              <a:rPr lang="zh-CN" altLang="en-US" dirty="0"/>
              <a:t>班</a:t>
            </a:r>
            <a:r>
              <a:rPr lang="en-US" altLang="zh-CN" dirty="0"/>
              <a:t>   </a:t>
            </a:r>
            <a:r>
              <a:rPr lang="zh-CN" altLang="en-US" dirty="0"/>
              <a:t>级</a:t>
            </a:r>
            <a:r>
              <a:rPr lang="zh-CN" altLang="en-US" dirty="0" smtClean="0"/>
              <a:t>：</a:t>
            </a:r>
            <a:r>
              <a:rPr lang="en-US" altLang="zh-CN" dirty="0" smtClean="0"/>
              <a:t>24</a:t>
            </a:r>
            <a:r>
              <a:rPr lang="zh-CN" altLang="en-US" dirty="0" smtClean="0"/>
              <a:t>计算机科学与技术专升本</a:t>
            </a:r>
            <a:r>
              <a:rPr lang="en-US" altLang="zh-CN" dirty="0" smtClean="0"/>
              <a:t>6</a:t>
            </a:r>
            <a:r>
              <a:rPr lang="zh-CN" altLang="en-US" dirty="0" smtClean="0"/>
              <a:t>班</a:t>
            </a:r>
            <a:r>
              <a:rPr lang="en-US" altLang="zh-CN" dirty="0" smtClean="0"/>
              <a:t>                                 </a:t>
            </a:r>
            <a:endParaRPr lang="en-US" altLang="zh-CN" dirty="0"/>
          </a:p>
          <a:p>
            <a:pPr algn="just"/>
            <a:r>
              <a:rPr lang="zh-CN" altLang="en-US" dirty="0"/>
              <a:t>学</a:t>
            </a:r>
            <a:r>
              <a:rPr lang="en-US" altLang="zh-CN" dirty="0"/>
              <a:t>   </a:t>
            </a:r>
            <a:r>
              <a:rPr lang="zh-CN" altLang="en-US" dirty="0"/>
              <a:t>号</a:t>
            </a:r>
            <a:r>
              <a:rPr lang="zh-CN" altLang="en-US" dirty="0" smtClean="0"/>
              <a:t>：</a:t>
            </a:r>
            <a:r>
              <a:rPr lang="en-US" altLang="zh-CN" dirty="0" smtClean="0"/>
              <a:t>2422156627                                  </a:t>
            </a:r>
            <a:endParaRPr lang="en-US" altLang="zh-CN" dirty="0"/>
          </a:p>
          <a:p>
            <a:pPr algn="just"/>
            <a:r>
              <a:rPr lang="zh-CN" altLang="en-US" dirty="0"/>
              <a:t>姓</a:t>
            </a:r>
            <a:r>
              <a:rPr lang="en-US" altLang="zh-CN" dirty="0"/>
              <a:t>   </a:t>
            </a:r>
            <a:r>
              <a:rPr lang="zh-CN" altLang="en-US" dirty="0"/>
              <a:t>名：</a:t>
            </a:r>
            <a:r>
              <a:rPr lang="en-US" altLang="zh-CN" dirty="0"/>
              <a:t> </a:t>
            </a:r>
            <a:r>
              <a:rPr lang="zh-CN" altLang="en-US" dirty="0" smtClean="0"/>
              <a:t>陶振宇</a:t>
            </a:r>
            <a:r>
              <a:rPr lang="en-US" altLang="zh-CN" dirty="0" smtClean="0"/>
              <a:t>                                                                                                           </a:t>
            </a:r>
            <a:endParaRPr lang="en-US" altLang="zh-CN" dirty="0"/>
          </a:p>
          <a:p>
            <a:pPr algn="just"/>
            <a:r>
              <a:rPr lang="zh-CN" altLang="en-US" dirty="0"/>
              <a:t>院</a:t>
            </a:r>
            <a:r>
              <a:rPr lang="en-US" altLang="zh-CN" dirty="0"/>
              <a:t>    </a:t>
            </a:r>
            <a:r>
              <a:rPr lang="zh-CN" altLang="en-US" dirty="0"/>
              <a:t>系：</a:t>
            </a:r>
            <a:r>
              <a:rPr lang="en-US" altLang="zh-CN" dirty="0"/>
              <a:t> </a:t>
            </a:r>
            <a:r>
              <a:rPr lang="zh-CN" altLang="en-US" dirty="0" smtClean="0"/>
              <a:t>大数据与人工智能学院</a:t>
            </a:r>
            <a:r>
              <a:rPr lang="en-US" altLang="zh-CN" dirty="0" smtClean="0"/>
              <a:t>           </a:t>
            </a:r>
            <a:endParaRPr lang="en-US" altLang="zh-CN" dirty="0"/>
          </a:p>
          <a:p>
            <a:pPr algn="just"/>
            <a:r>
              <a:rPr lang="zh-CN" altLang="en-US" dirty="0"/>
              <a:t>指导老师</a:t>
            </a:r>
            <a:r>
              <a:rPr lang="zh-CN" altLang="en-US" dirty="0" smtClean="0"/>
              <a:t>：韩文武</a:t>
            </a:r>
            <a:r>
              <a:rPr lang="en-US" altLang="zh-CN" dirty="0" smtClean="0"/>
              <a:t>                                       </a:t>
            </a:r>
            <a:endParaRPr lang="en-US" altLang="zh-CN" dirty="0"/>
          </a:p>
          <a:p>
            <a:pPr algn="just"/>
            <a:r>
              <a:rPr lang="zh-CN" altLang="en-US" dirty="0"/>
              <a:t>完成时间</a:t>
            </a:r>
            <a:r>
              <a:rPr lang="zh-CN" altLang="en-US" dirty="0" smtClean="0"/>
              <a:t>：</a:t>
            </a:r>
            <a:r>
              <a:rPr lang="en-US" altLang="zh-CN" dirty="0" smtClean="0"/>
              <a:t>2025.11.16              </a:t>
            </a:r>
            <a:r>
              <a:rPr lang="en-US" altLang="zh-CN" u="sng" dirty="0" smtClean="0"/>
              <a:t>   </a:t>
            </a:r>
            <a:endParaRPr lang="en-US" altLang="zh-CN" u="sng" dirty="0"/>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a:lstStyle/>
          <a:p>
            <a:r>
              <a:rPr lang="zh-CN" altLang="en-US" dirty="0">
                <a:solidFill>
                  <a:schemeClr val="tx1">
                    <a:lumMod val="65000"/>
                    <a:lumOff val="35000"/>
                  </a:schemeClr>
                </a:solidFill>
              </a:rPr>
              <a:t>目录</a:t>
            </a:r>
          </a:p>
        </p:txBody>
      </p:sp>
      <p:sp>
        <p:nvSpPr>
          <p:cNvPr id="3" name="内容占位符 2"/>
          <p:cNvSpPr>
            <a:spLocks noGrp="1"/>
          </p:cNvSpPr>
          <p:nvPr>
            <p:ph idx="1"/>
            <p:custDataLst>
              <p:tags r:id="rId3"/>
            </p:custDataLst>
          </p:nvPr>
        </p:nvSpPr>
        <p:spPr/>
        <p:txBody>
          <a:bodyPr/>
          <a:lstStyle/>
          <a:p>
            <a:r>
              <a:rPr lang="zh-CN" altLang="en-US" dirty="0"/>
              <a:t>课题背景与意义</a:t>
            </a:r>
          </a:p>
          <a:p>
            <a:r>
              <a:rPr lang="zh-CN" altLang="en-US" dirty="0"/>
              <a:t>核心技术栈</a:t>
            </a:r>
          </a:p>
          <a:p>
            <a:r>
              <a:rPr lang="zh-CN" altLang="en-US" dirty="0"/>
              <a:t>系统需求与可行性</a:t>
            </a:r>
          </a:p>
          <a:p>
            <a:r>
              <a:rPr lang="zh-CN" altLang="en-US" dirty="0"/>
              <a:t>系统结构设计</a:t>
            </a:r>
          </a:p>
          <a:p>
            <a:r>
              <a:rPr lang="zh-CN" altLang="en-US" dirty="0"/>
              <a:t>数据库核心设计</a:t>
            </a:r>
          </a:p>
          <a:p>
            <a:r>
              <a:rPr lang="zh-CN" altLang="en-US" dirty="0"/>
              <a:t>关键功能实现（用户端）</a:t>
            </a:r>
          </a:p>
          <a:p>
            <a:r>
              <a:rPr lang="zh-CN" altLang="en-US" dirty="0"/>
              <a:t>关键功能实现（管理员端）</a:t>
            </a:r>
          </a:p>
          <a:p>
            <a:r>
              <a:rPr lang="zh-CN" altLang="en-US" dirty="0"/>
              <a:t>系统测试与结果</a:t>
            </a:r>
          </a:p>
          <a:p>
            <a:r>
              <a:rPr lang="zh-CN" altLang="en-US" dirty="0"/>
              <a:t>结论</a:t>
            </a:r>
          </a:p>
        </p:txBody>
      </p:sp>
      <p:graphicFrame>
        <p:nvGraphicFramePr>
          <p:cNvPr id="4" name="表格 3"/>
          <p:cNvGraphicFramePr>
            <a:graphicFrameLocks noGrp="1"/>
          </p:cNvGraphicFramePr>
          <p:nvPr>
            <p:extLst>
              <p:ext uri="{D42A27DB-BD31-4B8C-83A1-F6EECF244321}">
                <p14:modId xmlns:p14="http://schemas.microsoft.com/office/powerpoint/2010/main" val="4157621258"/>
              </p:ext>
            </p:extLst>
          </p:nvPr>
        </p:nvGraphicFramePr>
        <p:xfrm>
          <a:off x="7129462" y="1314000"/>
          <a:ext cx="5062538" cy="3566160"/>
        </p:xfrm>
        <a:graphic>
          <a:graphicData uri="http://schemas.openxmlformats.org/drawingml/2006/table">
            <a:tbl>
              <a:tblPr firstRow="1" bandRow="1">
                <a:tableStyleId>{5C22544A-7EE6-4342-B048-85BDC9FD1C3A}</a:tableStyleId>
              </a:tblPr>
              <a:tblGrid>
                <a:gridCol w="2531269">
                  <a:extLst>
                    <a:ext uri="{9D8B030D-6E8A-4147-A177-3AD203B41FA5}">
                      <a16:colId xmlns:a16="http://schemas.microsoft.com/office/drawing/2014/main" val="2219148828"/>
                    </a:ext>
                  </a:extLst>
                </a:gridCol>
                <a:gridCol w="2531269">
                  <a:extLst>
                    <a:ext uri="{9D8B030D-6E8A-4147-A177-3AD203B41FA5}">
                      <a16:colId xmlns:a16="http://schemas.microsoft.com/office/drawing/2014/main" val="1028740892"/>
                    </a:ext>
                  </a:extLst>
                </a:gridCol>
              </a:tblGrid>
              <a:tr h="331116">
                <a:tc>
                  <a:txBody>
                    <a:bodyPr/>
                    <a:lstStyle/>
                    <a:p>
                      <a:r>
                        <a:rPr lang="zh-CN" altLang="en-US" dirty="0" smtClean="0"/>
                        <a:t>小组成员</a:t>
                      </a:r>
                      <a:endParaRPr lang="zh-CN" altLang="en-US" dirty="0"/>
                    </a:p>
                  </a:txBody>
                  <a:tcPr/>
                </a:tc>
                <a:tc>
                  <a:txBody>
                    <a:bodyPr/>
                    <a:lstStyle/>
                    <a:p>
                      <a:r>
                        <a:rPr lang="zh-CN" altLang="en-US" dirty="0" smtClean="0"/>
                        <a:t>小组分工</a:t>
                      </a:r>
                      <a:endParaRPr lang="zh-CN" altLang="en-US" dirty="0"/>
                    </a:p>
                  </a:txBody>
                  <a:tcPr/>
                </a:tc>
                <a:extLst>
                  <a:ext uri="{0D108BD9-81ED-4DB2-BD59-A6C34878D82A}">
                    <a16:rowId xmlns:a16="http://schemas.microsoft.com/office/drawing/2014/main" val="4117912301"/>
                  </a:ext>
                </a:extLst>
              </a:tr>
              <a:tr h="579453">
                <a:tc>
                  <a:txBody>
                    <a:bodyPr/>
                    <a:lstStyle/>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r>
                        <a:rPr lang="zh-CN" altLang="en-US" sz="1800" u="none" strike="noStrike" kern="1200" cap="none" spc="150" normalizeH="0" baseline="0" dirty="0" smtClean="0">
                          <a:solidFill>
                            <a:schemeClr val="tx1">
                              <a:lumMod val="65000"/>
                              <a:lumOff val="35000"/>
                            </a:schemeClr>
                          </a:solidFill>
                          <a:uFillTx/>
                          <a:latin typeface="+mn-lt"/>
                          <a:ea typeface="+mn-ea"/>
                          <a:cs typeface="+mn-cs"/>
                        </a:rPr>
                        <a:t>韩家怡（组长）</a:t>
                      </a:r>
                    </a:p>
                  </a:txBody>
                  <a:tcPr>
                    <a:solidFill>
                      <a:srgbClr val="CFD6EC"/>
                    </a:solidFill>
                  </a:tcPr>
                </a:tc>
                <a:tc>
                  <a:txBody>
                    <a:bodyPr/>
                    <a:lstStyle/>
                    <a:p>
                      <a:r>
                        <a:rPr lang="zh-CN" altLang="en-US" sz="1800" u="none" strike="noStrike" kern="1200" cap="none" spc="150" normalizeH="0" baseline="0" dirty="0" smtClean="0">
                          <a:solidFill>
                            <a:schemeClr val="tx1">
                              <a:lumMod val="65000"/>
                              <a:lumOff val="35000"/>
                            </a:schemeClr>
                          </a:solidFill>
                          <a:uFillTx/>
                          <a:latin typeface="+mn-lt"/>
                          <a:ea typeface="+mn-ea"/>
                          <a:cs typeface="+mn-cs"/>
                        </a:rPr>
                        <a:t>负责前端代码编写及运行，项目进程安排。</a:t>
                      </a:r>
                      <a:endParaRPr lang="zh-CN" altLang="en-US" sz="1800" u="none" strike="noStrike" kern="1200" cap="none" spc="150" normalizeH="0" baseline="0" dirty="0">
                        <a:solidFill>
                          <a:schemeClr val="tx1">
                            <a:lumMod val="65000"/>
                            <a:lumOff val="35000"/>
                          </a:schemeClr>
                        </a:solidFill>
                        <a:uFillTx/>
                        <a:latin typeface="+mn-lt"/>
                        <a:ea typeface="+mn-ea"/>
                        <a:cs typeface="+mn-cs"/>
                      </a:endParaRPr>
                    </a:p>
                  </a:txBody>
                  <a:tcPr/>
                </a:tc>
                <a:extLst>
                  <a:ext uri="{0D108BD9-81ED-4DB2-BD59-A6C34878D82A}">
                    <a16:rowId xmlns:a16="http://schemas.microsoft.com/office/drawing/2014/main" val="1426935973"/>
                  </a:ext>
                </a:extLst>
              </a:tr>
              <a:tr h="579453">
                <a:tc>
                  <a:txBody>
                    <a:bodyPr/>
                    <a:lstStyle/>
                    <a:p>
                      <a:r>
                        <a:rPr lang="zh-CN" altLang="en-US" sz="1800" u="none" strike="noStrike" kern="1200" cap="none" spc="150" normalizeH="0" baseline="0" dirty="0" smtClean="0">
                          <a:solidFill>
                            <a:schemeClr val="tx1">
                              <a:lumMod val="65000"/>
                              <a:lumOff val="35000"/>
                            </a:schemeClr>
                          </a:solidFill>
                          <a:uFillTx/>
                          <a:latin typeface="+mn-lt"/>
                          <a:ea typeface="+mn-ea"/>
                          <a:cs typeface="+mn-cs"/>
                        </a:rPr>
                        <a:t>陶振宇</a:t>
                      </a:r>
                      <a:endParaRPr lang="zh-CN" altLang="en-US" sz="1800" u="none" strike="noStrike" kern="1200" cap="none" spc="150" normalizeH="0" baseline="0" dirty="0">
                        <a:solidFill>
                          <a:schemeClr val="tx1">
                            <a:lumMod val="65000"/>
                            <a:lumOff val="35000"/>
                          </a:schemeClr>
                        </a:solidFill>
                        <a:uFillTx/>
                        <a:latin typeface="+mn-lt"/>
                        <a:ea typeface="+mn-ea"/>
                        <a:cs typeface="+mn-cs"/>
                      </a:endParaRPr>
                    </a:p>
                  </a:txBody>
                  <a:tcPr/>
                </a:tc>
                <a:tc>
                  <a:txBody>
                    <a:bodyPr/>
                    <a:lstStyle/>
                    <a:p>
                      <a:r>
                        <a:rPr lang="zh-CN" altLang="en-US" sz="1800" u="none" strike="noStrike" kern="1200" cap="none" spc="150" normalizeH="0" baseline="0" dirty="0" smtClean="0">
                          <a:solidFill>
                            <a:schemeClr val="tx1">
                              <a:lumMod val="65000"/>
                              <a:lumOff val="35000"/>
                            </a:schemeClr>
                          </a:solidFill>
                          <a:uFillTx/>
                          <a:latin typeface="+mn-lt"/>
                          <a:ea typeface="+mn-ea"/>
                          <a:cs typeface="+mn-cs"/>
                        </a:rPr>
                        <a:t>负责答辩，后端代码编写，录屏演示测试。</a:t>
                      </a:r>
                      <a:endParaRPr lang="zh-CN" altLang="en-US" sz="1800" u="none" strike="noStrike" kern="1200" cap="none" spc="150" normalizeH="0" baseline="0" dirty="0">
                        <a:solidFill>
                          <a:schemeClr val="tx1">
                            <a:lumMod val="65000"/>
                            <a:lumOff val="35000"/>
                          </a:schemeClr>
                        </a:solidFill>
                        <a:uFillTx/>
                        <a:latin typeface="+mn-lt"/>
                        <a:ea typeface="+mn-ea"/>
                        <a:cs typeface="+mn-cs"/>
                      </a:endParaRPr>
                    </a:p>
                  </a:txBody>
                  <a:tcPr/>
                </a:tc>
                <a:extLst>
                  <a:ext uri="{0D108BD9-81ED-4DB2-BD59-A6C34878D82A}">
                    <a16:rowId xmlns:a16="http://schemas.microsoft.com/office/drawing/2014/main" val="3985856556"/>
                  </a:ext>
                </a:extLst>
              </a:tr>
              <a:tr h="579453">
                <a:tc>
                  <a:txBody>
                    <a:bodyPr/>
                    <a:lstStyle/>
                    <a:p>
                      <a:r>
                        <a:rPr lang="zh-CN" altLang="en-US" sz="1800" u="none" strike="noStrike" kern="1200" cap="none" spc="150" normalizeH="0" baseline="0" dirty="0" smtClean="0">
                          <a:solidFill>
                            <a:schemeClr val="tx1">
                              <a:lumMod val="65000"/>
                              <a:lumOff val="35000"/>
                            </a:schemeClr>
                          </a:solidFill>
                          <a:uFillTx/>
                          <a:latin typeface="+mn-lt"/>
                          <a:ea typeface="+mn-ea"/>
                          <a:cs typeface="+mn-cs"/>
                        </a:rPr>
                        <a:t>卜祥</a:t>
                      </a:r>
                      <a:endParaRPr lang="zh-CN" altLang="en-US" sz="1800" u="none" strike="noStrike" kern="1200" cap="none" spc="150" normalizeH="0" baseline="0" dirty="0">
                        <a:solidFill>
                          <a:schemeClr val="tx1">
                            <a:lumMod val="65000"/>
                            <a:lumOff val="35000"/>
                          </a:schemeClr>
                        </a:solidFill>
                        <a:uFillTx/>
                        <a:latin typeface="+mn-lt"/>
                        <a:ea typeface="+mn-ea"/>
                        <a:cs typeface="+mn-cs"/>
                      </a:endParaRPr>
                    </a:p>
                  </a:txBody>
                  <a:tcPr/>
                </a:tc>
                <a:tc>
                  <a:txBody>
                    <a:bodyPr/>
                    <a:lstStyle/>
                    <a:p>
                      <a:r>
                        <a:rPr lang="zh-CN" altLang="en-US" sz="1800" u="none" strike="noStrike" kern="1200" cap="none" spc="150" normalizeH="0" baseline="0" dirty="0" smtClean="0">
                          <a:solidFill>
                            <a:schemeClr val="tx1">
                              <a:lumMod val="65000"/>
                              <a:lumOff val="35000"/>
                            </a:schemeClr>
                          </a:solidFill>
                          <a:uFillTx/>
                          <a:latin typeface="+mn-lt"/>
                          <a:ea typeface="+mn-ea"/>
                          <a:cs typeface="+mn-cs"/>
                        </a:rPr>
                        <a:t>撰写文档，增删查改功能运行，搜集资料。</a:t>
                      </a:r>
                      <a:endParaRPr lang="zh-CN" altLang="en-US" sz="1800" u="none" strike="noStrike" kern="1200" cap="none" spc="150" normalizeH="0" baseline="0" dirty="0">
                        <a:solidFill>
                          <a:schemeClr val="tx1">
                            <a:lumMod val="65000"/>
                            <a:lumOff val="35000"/>
                          </a:schemeClr>
                        </a:solidFill>
                        <a:uFillTx/>
                        <a:latin typeface="+mn-lt"/>
                        <a:ea typeface="+mn-ea"/>
                        <a:cs typeface="+mn-cs"/>
                      </a:endParaRPr>
                    </a:p>
                  </a:txBody>
                  <a:tcPr/>
                </a:tc>
                <a:extLst>
                  <a:ext uri="{0D108BD9-81ED-4DB2-BD59-A6C34878D82A}">
                    <a16:rowId xmlns:a16="http://schemas.microsoft.com/office/drawing/2014/main" val="1440338600"/>
                  </a:ext>
                </a:extLst>
              </a:tr>
              <a:tr h="579453">
                <a:tc>
                  <a:txBody>
                    <a:bodyPr/>
                    <a:lstStyle/>
                    <a:p>
                      <a:pPr marL="0" algn="l" defTabSz="914400" rtl="0" eaLnBrk="1" latinLnBrk="0" hangingPunct="1"/>
                      <a:r>
                        <a:rPr lang="zh-CN" altLang="en-US" sz="1800" u="none" strike="noStrike" kern="1200" cap="none" spc="150" normalizeH="0" baseline="0" dirty="0" smtClean="0">
                          <a:solidFill>
                            <a:schemeClr val="tx1">
                              <a:lumMod val="65000"/>
                              <a:lumOff val="35000"/>
                            </a:schemeClr>
                          </a:solidFill>
                          <a:uFillTx/>
                          <a:latin typeface="+mn-lt"/>
                          <a:ea typeface="+mn-ea"/>
                          <a:cs typeface="+mn-cs"/>
                        </a:rPr>
                        <a:t>冯悦</a:t>
                      </a:r>
                      <a:endParaRPr lang="zh-CN" altLang="en-US" sz="1800" u="none" strike="noStrike" kern="1200" cap="none" spc="150" normalizeH="0" baseline="0" dirty="0">
                        <a:solidFill>
                          <a:schemeClr val="tx1">
                            <a:lumMod val="65000"/>
                            <a:lumOff val="35000"/>
                          </a:schemeClr>
                        </a:solidFill>
                        <a:uFillTx/>
                        <a:latin typeface="+mn-lt"/>
                        <a:ea typeface="+mn-ea"/>
                        <a:cs typeface="+mn-cs"/>
                      </a:endParaRPr>
                    </a:p>
                  </a:txBody>
                  <a:tcPr/>
                </a:tc>
                <a:tc>
                  <a:txBody>
                    <a:bodyPr/>
                    <a:lstStyle/>
                    <a:p>
                      <a:pPr marL="0" algn="l" defTabSz="914400" rtl="0" eaLnBrk="1" latinLnBrk="0" hangingPunct="1"/>
                      <a:r>
                        <a:rPr lang="zh-CN" altLang="en-US" sz="1800" u="none" strike="noStrike" kern="1200" cap="none" spc="150" normalizeH="0" baseline="0" dirty="0" smtClean="0">
                          <a:solidFill>
                            <a:schemeClr val="tx1">
                              <a:lumMod val="65000"/>
                              <a:lumOff val="35000"/>
                            </a:schemeClr>
                          </a:solidFill>
                          <a:uFillTx/>
                          <a:latin typeface="+mn-lt"/>
                          <a:ea typeface="+mn-ea"/>
                          <a:cs typeface="+mn-cs"/>
                        </a:rPr>
                        <a:t>后期截图，修改文档，修改</a:t>
                      </a:r>
                      <a:r>
                        <a:rPr lang="en-US" altLang="zh-CN" sz="1800" u="none" strike="noStrike" kern="1200" cap="none" spc="150" normalizeH="0" baseline="0" dirty="0" err="1" smtClean="0">
                          <a:solidFill>
                            <a:schemeClr val="tx1">
                              <a:lumMod val="65000"/>
                              <a:lumOff val="35000"/>
                            </a:schemeClr>
                          </a:solidFill>
                          <a:uFillTx/>
                          <a:latin typeface="+mn-lt"/>
                          <a:ea typeface="+mn-ea"/>
                          <a:cs typeface="+mn-cs"/>
                        </a:rPr>
                        <a:t>ppt</a:t>
                      </a:r>
                      <a:r>
                        <a:rPr lang="zh-CN" altLang="en-US" sz="1800" u="none" strike="noStrike" kern="1200" cap="none" spc="150" normalizeH="0" baseline="0" dirty="0" smtClean="0">
                          <a:solidFill>
                            <a:schemeClr val="tx1">
                              <a:lumMod val="65000"/>
                              <a:lumOff val="35000"/>
                            </a:schemeClr>
                          </a:solidFill>
                          <a:uFillTx/>
                          <a:latin typeface="+mn-lt"/>
                          <a:ea typeface="+mn-ea"/>
                          <a:cs typeface="+mn-cs"/>
                        </a:rPr>
                        <a:t>，整合资料。</a:t>
                      </a:r>
                      <a:endParaRPr lang="zh-CN" altLang="en-US" sz="1800" u="none" strike="noStrike" kern="1200" cap="none" spc="150" normalizeH="0" baseline="0" dirty="0">
                        <a:solidFill>
                          <a:schemeClr val="tx1">
                            <a:lumMod val="65000"/>
                            <a:lumOff val="35000"/>
                          </a:schemeClr>
                        </a:solidFill>
                        <a:uFillTx/>
                        <a:latin typeface="+mn-lt"/>
                        <a:ea typeface="+mn-ea"/>
                        <a:cs typeface="+mn-cs"/>
                      </a:endParaRPr>
                    </a:p>
                  </a:txBody>
                  <a:tcPr/>
                </a:tc>
                <a:extLst>
                  <a:ext uri="{0D108BD9-81ED-4DB2-BD59-A6C34878D82A}">
                    <a16:rowId xmlns:a16="http://schemas.microsoft.com/office/drawing/2014/main" val="2529758721"/>
                  </a:ext>
                </a:extLst>
              </a:tr>
              <a:tr h="579453">
                <a:tc>
                  <a:txBody>
                    <a:bodyPr/>
                    <a:lstStyle/>
                    <a:p>
                      <a:pPr marL="0" algn="l" defTabSz="914400" rtl="0" eaLnBrk="1" latinLnBrk="0" hangingPunct="1"/>
                      <a:r>
                        <a:rPr lang="zh-CN" altLang="en-US" sz="1800" u="none" strike="noStrike" kern="1200" cap="none" spc="150" normalizeH="0" baseline="0" dirty="0" smtClean="0">
                          <a:solidFill>
                            <a:schemeClr val="tx1">
                              <a:lumMod val="65000"/>
                              <a:lumOff val="35000"/>
                            </a:schemeClr>
                          </a:solidFill>
                          <a:uFillTx/>
                          <a:latin typeface="+mn-lt"/>
                          <a:ea typeface="+mn-ea"/>
                          <a:cs typeface="+mn-cs"/>
                        </a:rPr>
                        <a:t>夏旭洋</a:t>
                      </a:r>
                      <a:endParaRPr lang="zh-CN" altLang="en-US" sz="1800" u="none" strike="noStrike" kern="1200" cap="none" spc="150" normalizeH="0" baseline="0" dirty="0">
                        <a:solidFill>
                          <a:schemeClr val="tx1">
                            <a:lumMod val="65000"/>
                            <a:lumOff val="35000"/>
                          </a:schemeClr>
                        </a:solidFill>
                        <a:uFillTx/>
                        <a:latin typeface="+mn-lt"/>
                        <a:ea typeface="+mn-ea"/>
                        <a:cs typeface="+mn-cs"/>
                      </a:endParaRPr>
                    </a:p>
                  </a:txBody>
                  <a:tcPr/>
                </a:tc>
                <a:tc>
                  <a:txBody>
                    <a:bodyPr/>
                    <a:lstStyle/>
                    <a:p>
                      <a:r>
                        <a:rPr lang="zh-CN" altLang="en-US" sz="1800" u="none" strike="noStrike" kern="1200" cap="none" spc="150" normalizeH="0" baseline="0" dirty="0" smtClean="0">
                          <a:solidFill>
                            <a:schemeClr val="tx1">
                              <a:lumMod val="65000"/>
                              <a:lumOff val="35000"/>
                            </a:schemeClr>
                          </a:solidFill>
                          <a:uFillTx/>
                          <a:latin typeface="+mn-lt"/>
                          <a:ea typeface="+mn-ea"/>
                          <a:cs typeface="+mn-cs"/>
                        </a:rPr>
                        <a:t>制作</a:t>
                      </a:r>
                      <a:r>
                        <a:rPr lang="en-US" altLang="zh-CN" sz="1800" u="none" strike="noStrike" kern="1200" cap="none" spc="150" normalizeH="0" baseline="0" dirty="0" err="1" smtClean="0">
                          <a:solidFill>
                            <a:schemeClr val="tx1">
                              <a:lumMod val="65000"/>
                              <a:lumOff val="35000"/>
                            </a:schemeClr>
                          </a:solidFill>
                          <a:uFillTx/>
                          <a:latin typeface="+mn-lt"/>
                          <a:ea typeface="+mn-ea"/>
                          <a:cs typeface="+mn-cs"/>
                        </a:rPr>
                        <a:t>ppt</a:t>
                      </a:r>
                      <a:r>
                        <a:rPr lang="zh-CN" altLang="en-US" sz="1800" u="none" strike="noStrike" kern="1200" cap="none" spc="150" normalizeH="0" baseline="0" dirty="0" smtClean="0">
                          <a:solidFill>
                            <a:schemeClr val="tx1">
                              <a:lumMod val="65000"/>
                              <a:lumOff val="35000"/>
                            </a:schemeClr>
                          </a:solidFill>
                          <a:uFillTx/>
                          <a:latin typeface="+mn-lt"/>
                          <a:ea typeface="+mn-ea"/>
                          <a:cs typeface="+mn-cs"/>
                        </a:rPr>
                        <a:t>初稿，搜集资料，画图。</a:t>
                      </a:r>
                      <a:endParaRPr lang="zh-CN" altLang="en-US" sz="1800" u="none" strike="noStrike" kern="1200" cap="none" spc="150" normalizeH="0" baseline="0" dirty="0">
                        <a:solidFill>
                          <a:schemeClr val="tx1">
                            <a:lumMod val="65000"/>
                            <a:lumOff val="35000"/>
                          </a:schemeClr>
                        </a:solidFill>
                        <a:uFillTx/>
                        <a:latin typeface="+mn-lt"/>
                        <a:ea typeface="+mn-ea"/>
                        <a:cs typeface="+mn-cs"/>
                      </a:endParaRPr>
                    </a:p>
                  </a:txBody>
                  <a:tcPr/>
                </a:tc>
                <a:extLst>
                  <a:ext uri="{0D108BD9-81ED-4DB2-BD59-A6C34878D82A}">
                    <a16:rowId xmlns:a16="http://schemas.microsoft.com/office/drawing/2014/main" val="1051539930"/>
                  </a:ext>
                </a:extLst>
              </a:tr>
            </a:tbl>
          </a:graphicData>
        </a:graphic>
      </p:graphicFrame>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lstStyle/>
          <a:p>
            <a:r>
              <a:rPr lang="zh-CN" altLang="en-US" dirty="0">
                <a:solidFill>
                  <a:schemeClr val="tx1">
                    <a:lumMod val="65000"/>
                    <a:lumOff val="35000"/>
                  </a:schemeClr>
                </a:solidFill>
              </a:rPr>
              <a:t>课题背景与意义</a:t>
            </a:r>
          </a:p>
        </p:txBody>
      </p:sp>
      <p:sp>
        <p:nvSpPr>
          <p:cNvPr id="4" name="圆角矩形 3"/>
          <p:cNvSpPr/>
          <p:nvPr>
            <p:custDataLst>
              <p:tags r:id="rId3"/>
            </p:custDataLst>
          </p:nvPr>
        </p:nvSpPr>
        <p:spPr>
          <a:xfrm>
            <a:off x="609600" y="1506996"/>
            <a:ext cx="10972800" cy="2308726"/>
          </a:xfrm>
          <a:prstGeom prst="roundRect">
            <a:avLst>
              <a:gd name="adj" fmla="val 50000"/>
            </a:avLst>
          </a:prstGeom>
          <a:solidFill>
            <a:schemeClr val="accent1">
              <a:lumMod val="40000"/>
              <a:lumOff val="60000"/>
              <a:alpha val="25000"/>
            </a:schemeClr>
          </a:solidFill>
          <a:ln w="25400">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sp>
        <p:nvSpPr>
          <p:cNvPr id="5" name="矩形 4"/>
          <p:cNvSpPr/>
          <p:nvPr>
            <p:custDataLst>
              <p:tags r:id="rId4"/>
            </p:custDataLst>
          </p:nvPr>
        </p:nvSpPr>
        <p:spPr>
          <a:xfrm>
            <a:off x="1341713" y="2329273"/>
            <a:ext cx="9508575" cy="1179127"/>
          </a:xfrm>
          <a:prstGeom prst="rect">
            <a:avLst/>
          </a:prstGeom>
          <a:noFill/>
        </p:spPr>
        <p:txBody>
          <a:bodyPr wrap="square" lIns="0" tIns="0" rIns="0" bIns="0" rtlCol="0" anchor="t" anchorCtr="0">
            <a:noAutofit/>
          </a:bodyPr>
          <a:lstStyle/>
          <a:p>
            <a:pPr indent="0" algn="just" fontAlgn="auto">
              <a:lnSpc>
                <a:spcPct val="140000"/>
              </a:lnSpc>
              <a:spcBef>
                <a:spcPct val="0"/>
              </a:spcBef>
              <a:spcAft>
                <a:spcPct val="0"/>
              </a:spcAft>
            </a:pPr>
            <a:r>
              <a:rPr lang="en-US" altLang="en-US" dirty="0">
                <a:solidFill>
                  <a:schemeClr val="tx1">
                    <a:lumMod val="65000"/>
                    <a:lumOff val="35000"/>
                  </a:schemeClr>
                </a:solidFill>
                <a:latin typeface="+mn-ea"/>
                <a:cs typeface="+mn-ea"/>
              </a:rPr>
              <a:t>1.</a:t>
            </a:r>
            <a:r>
              <a:rPr lang="zh-CN" altLang="en-US" dirty="0">
                <a:solidFill>
                  <a:schemeClr val="tx1">
                    <a:lumMod val="65000"/>
                    <a:lumOff val="35000"/>
                  </a:schemeClr>
                </a:solidFill>
                <a:latin typeface="+mn-ea"/>
                <a:cs typeface="+mn-ea"/>
              </a:rPr>
              <a:t>互联网普及：我国网上用户超</a:t>
            </a:r>
            <a:r>
              <a:rPr lang="en-US" altLang="zh-CN" dirty="0">
                <a:solidFill>
                  <a:schemeClr val="tx1">
                    <a:lumMod val="65000"/>
                    <a:lumOff val="35000"/>
                  </a:schemeClr>
                </a:solidFill>
                <a:latin typeface="+mn-ea"/>
                <a:cs typeface="+mn-ea"/>
              </a:rPr>
              <a:t> 5.6 </a:t>
            </a:r>
            <a:r>
              <a:rPr lang="zh-CN" altLang="en-US" dirty="0">
                <a:solidFill>
                  <a:schemeClr val="tx1">
                    <a:lumMod val="65000"/>
                    <a:lumOff val="35000"/>
                  </a:schemeClr>
                </a:solidFill>
                <a:latin typeface="+mn-ea"/>
                <a:cs typeface="+mn-ea"/>
              </a:rPr>
              <a:t>亿，线上获取信息成为主流习惯</a:t>
            </a:r>
            <a:endParaRPr lang="en-US" altLang="zh-CN" dirty="0">
              <a:solidFill>
                <a:schemeClr val="tx1">
                  <a:lumMod val="65000"/>
                  <a:lumOff val="35000"/>
                </a:schemeClr>
              </a:solidFill>
              <a:latin typeface="+mn-ea"/>
              <a:cs typeface="+mn-ea"/>
            </a:endParaRPr>
          </a:p>
          <a:p>
            <a:pPr indent="0" algn="just" fontAlgn="auto">
              <a:lnSpc>
                <a:spcPct val="140000"/>
              </a:lnSpc>
              <a:spcBef>
                <a:spcPct val="0"/>
              </a:spcBef>
              <a:spcAft>
                <a:spcPct val="0"/>
              </a:spcAft>
            </a:pPr>
            <a:r>
              <a:rPr lang="en-US" altLang="zh-CN" dirty="0">
                <a:solidFill>
                  <a:schemeClr val="tx1">
                    <a:lumMod val="65000"/>
                    <a:lumOff val="35000"/>
                  </a:schemeClr>
                </a:solidFill>
                <a:latin typeface="+mn-ea"/>
                <a:cs typeface="+mn-ea"/>
              </a:rPr>
              <a:t>2.</a:t>
            </a:r>
            <a:r>
              <a:rPr lang="zh-CN" altLang="en-US" dirty="0">
                <a:solidFill>
                  <a:schemeClr val="tx1">
                    <a:lumMod val="65000"/>
                    <a:lumOff val="35000"/>
                  </a:schemeClr>
                </a:solidFill>
                <a:latin typeface="+mn-ea"/>
                <a:cs typeface="+mn-ea"/>
              </a:rPr>
              <a:t>传统管理痛点：信息查询耗时、管理员工作量大、数据管理效率低</a:t>
            </a:r>
            <a:endParaRPr lang="en-US" altLang="zh-CN" dirty="0">
              <a:solidFill>
                <a:schemeClr val="tx1">
                  <a:lumMod val="65000"/>
                  <a:lumOff val="35000"/>
                </a:schemeClr>
              </a:solidFill>
              <a:latin typeface="+mn-ea"/>
              <a:cs typeface="+mn-ea"/>
            </a:endParaRPr>
          </a:p>
          <a:p>
            <a:pPr indent="0" algn="just" fontAlgn="auto">
              <a:lnSpc>
                <a:spcPct val="140000"/>
              </a:lnSpc>
              <a:spcBef>
                <a:spcPct val="0"/>
              </a:spcBef>
              <a:spcAft>
                <a:spcPct val="0"/>
              </a:spcAft>
            </a:pPr>
            <a:r>
              <a:rPr lang="en-US" altLang="zh-CN" dirty="0">
                <a:solidFill>
                  <a:schemeClr val="tx1">
                    <a:lumMod val="65000"/>
                    <a:lumOff val="35000"/>
                  </a:schemeClr>
                </a:solidFill>
                <a:latin typeface="+mn-ea"/>
                <a:cs typeface="+mn-ea"/>
              </a:rPr>
              <a:t>3.</a:t>
            </a:r>
            <a:r>
              <a:rPr lang="zh-CN" altLang="en-US" dirty="0">
                <a:solidFill>
                  <a:schemeClr val="tx1">
                    <a:lumMod val="65000"/>
                    <a:lumOff val="35000"/>
                  </a:schemeClr>
                </a:solidFill>
                <a:latin typeface="+mn-ea"/>
                <a:cs typeface="+mn-ea"/>
              </a:rPr>
              <a:t>开发必要性：解决传统管理弊端，满足用户便捷操作与管理员高效管理需求</a:t>
            </a:r>
          </a:p>
        </p:txBody>
      </p:sp>
      <p:sp>
        <p:nvSpPr>
          <p:cNvPr id="6" name="矩形 5"/>
          <p:cNvSpPr/>
          <p:nvPr>
            <p:custDataLst>
              <p:tags r:id="rId5"/>
            </p:custDataLst>
          </p:nvPr>
        </p:nvSpPr>
        <p:spPr>
          <a:xfrm>
            <a:off x="1341713" y="1815588"/>
            <a:ext cx="9508575" cy="466698"/>
          </a:xfrm>
          <a:prstGeom prst="rect">
            <a:avLst/>
          </a:prstGeom>
          <a:noFill/>
        </p:spPr>
        <p:txBody>
          <a:bodyPr wrap="square" lIns="0" tIns="0" rIns="0" bIns="0" rtlCol="0" anchor="b" anchorCtr="0">
            <a:noAutofit/>
          </a:bodyPr>
          <a:lstStyle/>
          <a:p>
            <a:pPr algn="l">
              <a:spcBef>
                <a:spcPct val="0"/>
              </a:spcBef>
              <a:spcAft>
                <a:spcPct val="0"/>
              </a:spcAft>
            </a:pPr>
            <a:r>
              <a:rPr lang="zh-CN" altLang="en-US" sz="2400" b="1" dirty="0">
                <a:solidFill>
                  <a:schemeClr val="accent1"/>
                </a:solidFill>
                <a:latin typeface="+mn-ea"/>
                <a:cs typeface="+mn-ea"/>
              </a:rPr>
              <a:t>课题背景</a:t>
            </a:r>
          </a:p>
        </p:txBody>
      </p:sp>
      <p:sp>
        <p:nvSpPr>
          <p:cNvPr id="9" name="圆角矩形 8"/>
          <p:cNvSpPr/>
          <p:nvPr>
            <p:custDataLst>
              <p:tags r:id="rId6"/>
            </p:custDataLst>
          </p:nvPr>
        </p:nvSpPr>
        <p:spPr>
          <a:xfrm>
            <a:off x="609600" y="4057643"/>
            <a:ext cx="10972800" cy="2308726"/>
          </a:xfrm>
          <a:prstGeom prst="roundRect">
            <a:avLst>
              <a:gd name="adj" fmla="val 50000"/>
            </a:avLst>
          </a:prstGeom>
          <a:solidFill>
            <a:schemeClr val="accent1">
              <a:lumMod val="40000"/>
              <a:lumOff val="60000"/>
            </a:schemeClr>
          </a:solidFill>
          <a:ln w="25400">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sp>
        <p:nvSpPr>
          <p:cNvPr id="7" name="矩形 6"/>
          <p:cNvSpPr/>
          <p:nvPr>
            <p:custDataLst>
              <p:tags r:id="rId7"/>
            </p:custDataLst>
          </p:nvPr>
        </p:nvSpPr>
        <p:spPr>
          <a:xfrm>
            <a:off x="1341713" y="4879920"/>
            <a:ext cx="9508575" cy="1179127"/>
          </a:xfrm>
          <a:prstGeom prst="rect">
            <a:avLst/>
          </a:prstGeom>
          <a:noFill/>
        </p:spPr>
        <p:txBody>
          <a:bodyPr wrap="square" lIns="0" tIns="0" rIns="0" bIns="0" rtlCol="0" anchor="t" anchorCtr="0">
            <a:noAutofit/>
          </a:bodyPr>
          <a:lstStyle/>
          <a:p>
            <a:pPr indent="0" algn="just" fontAlgn="auto">
              <a:lnSpc>
                <a:spcPct val="140000"/>
              </a:lnSpc>
              <a:spcBef>
                <a:spcPct val="0"/>
              </a:spcBef>
              <a:spcAft>
                <a:spcPct val="0"/>
              </a:spcAft>
            </a:pPr>
            <a:r>
              <a:rPr lang="en-US" altLang="en-US" dirty="0">
                <a:solidFill>
                  <a:srgbClr val="FFFFFF"/>
                </a:solidFill>
                <a:latin typeface="+mn-ea"/>
                <a:cs typeface="+mn-ea"/>
              </a:rPr>
              <a:t>1.</a:t>
            </a:r>
            <a:r>
              <a:rPr lang="zh-CN" altLang="en-US" dirty="0">
                <a:solidFill>
                  <a:srgbClr val="FFFFFF"/>
                </a:solidFill>
                <a:latin typeface="+mn-ea"/>
                <a:cs typeface="+mn-ea"/>
              </a:rPr>
              <a:t>用户层面：随时查看实验室信息、申请设备</a:t>
            </a:r>
            <a:r>
              <a:rPr lang="en-US" altLang="zh-CN" dirty="0">
                <a:solidFill>
                  <a:srgbClr val="FFFFFF"/>
                </a:solidFill>
                <a:latin typeface="+mn-ea"/>
                <a:cs typeface="+mn-ea"/>
              </a:rPr>
              <a:t> / </a:t>
            </a:r>
            <a:r>
              <a:rPr lang="zh-CN" altLang="en-US" dirty="0">
                <a:solidFill>
                  <a:srgbClr val="FFFFFF"/>
                </a:solidFill>
                <a:latin typeface="+mn-ea"/>
                <a:cs typeface="+mn-ea"/>
              </a:rPr>
              <a:t>消耗品，契合高效工作需求</a:t>
            </a:r>
            <a:endParaRPr lang="en-US" altLang="zh-CN" dirty="0">
              <a:solidFill>
                <a:srgbClr val="FFFFFF"/>
              </a:solidFill>
              <a:latin typeface="+mn-ea"/>
              <a:cs typeface="+mn-ea"/>
            </a:endParaRPr>
          </a:p>
          <a:p>
            <a:pPr indent="0" algn="just" fontAlgn="auto">
              <a:lnSpc>
                <a:spcPct val="140000"/>
              </a:lnSpc>
              <a:spcBef>
                <a:spcPct val="0"/>
              </a:spcBef>
              <a:spcAft>
                <a:spcPct val="0"/>
              </a:spcAft>
            </a:pPr>
            <a:r>
              <a:rPr lang="en-US" altLang="zh-CN" dirty="0">
                <a:solidFill>
                  <a:srgbClr val="FFFFFF"/>
                </a:solidFill>
                <a:latin typeface="+mn-ea"/>
                <a:cs typeface="+mn-ea"/>
              </a:rPr>
              <a:t>2.</a:t>
            </a:r>
            <a:r>
              <a:rPr lang="zh-CN" altLang="en-US" dirty="0">
                <a:solidFill>
                  <a:srgbClr val="FFFFFF"/>
                </a:solidFill>
                <a:latin typeface="+mn-ea"/>
                <a:cs typeface="+mn-ea"/>
              </a:rPr>
              <a:t>管理层面：实现信息化管理，降低出错率，优化数据存储与查询</a:t>
            </a:r>
            <a:endParaRPr lang="en-US" altLang="zh-CN" dirty="0">
              <a:solidFill>
                <a:srgbClr val="FFFFFF"/>
              </a:solidFill>
              <a:latin typeface="+mn-ea"/>
              <a:cs typeface="+mn-ea"/>
            </a:endParaRPr>
          </a:p>
          <a:p>
            <a:pPr indent="0" algn="just" fontAlgn="auto">
              <a:lnSpc>
                <a:spcPct val="140000"/>
              </a:lnSpc>
              <a:spcBef>
                <a:spcPct val="0"/>
              </a:spcBef>
              <a:spcAft>
                <a:spcPct val="0"/>
              </a:spcAft>
            </a:pPr>
            <a:r>
              <a:rPr lang="en-US" altLang="zh-CN" dirty="0">
                <a:solidFill>
                  <a:srgbClr val="FFFFFF"/>
                </a:solidFill>
                <a:latin typeface="+mn-ea"/>
                <a:cs typeface="+mn-ea"/>
              </a:rPr>
              <a:t>3.</a:t>
            </a:r>
            <a:r>
              <a:rPr lang="zh-CN" altLang="en-US" dirty="0">
                <a:solidFill>
                  <a:srgbClr val="FFFFFF"/>
                </a:solidFill>
                <a:latin typeface="+mn-ea"/>
                <a:cs typeface="+mn-ea"/>
              </a:rPr>
              <a:t>体验层面：优化界面设计提升用户体验，补充现有平台功能不足</a:t>
            </a:r>
          </a:p>
        </p:txBody>
      </p:sp>
      <p:sp>
        <p:nvSpPr>
          <p:cNvPr id="8" name="矩形 7"/>
          <p:cNvSpPr/>
          <p:nvPr>
            <p:custDataLst>
              <p:tags r:id="rId8"/>
            </p:custDataLst>
          </p:nvPr>
        </p:nvSpPr>
        <p:spPr>
          <a:xfrm>
            <a:off x="1341713" y="4366235"/>
            <a:ext cx="9508575" cy="466698"/>
          </a:xfrm>
          <a:prstGeom prst="rect">
            <a:avLst/>
          </a:prstGeom>
          <a:noFill/>
        </p:spPr>
        <p:txBody>
          <a:bodyPr wrap="square" lIns="0" tIns="0" rIns="0" bIns="0" rtlCol="0" anchor="b" anchorCtr="0">
            <a:noAutofit/>
          </a:bodyPr>
          <a:lstStyle/>
          <a:p>
            <a:pPr algn="l">
              <a:spcBef>
                <a:spcPct val="0"/>
              </a:spcBef>
              <a:spcAft>
                <a:spcPct val="0"/>
              </a:spcAft>
            </a:pPr>
            <a:r>
              <a:rPr lang="zh-CN" altLang="en-US" sz="2400" b="1" dirty="0">
                <a:solidFill>
                  <a:srgbClr val="FFFFFF"/>
                </a:solidFill>
                <a:latin typeface="+mn-ea"/>
                <a:cs typeface="+mn-ea"/>
              </a:rPr>
              <a:t>研究意义</a:t>
            </a:r>
          </a:p>
        </p:txBody>
      </p:sp>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lstStyle/>
          <a:p>
            <a:r>
              <a:rPr lang="zh-CN" altLang="en-US" dirty="0">
                <a:solidFill>
                  <a:schemeClr val="tx1">
                    <a:lumMod val="65000"/>
                    <a:lumOff val="35000"/>
                  </a:schemeClr>
                </a:solidFill>
              </a:rPr>
              <a:t>系统需求与可行性</a:t>
            </a:r>
          </a:p>
        </p:txBody>
      </p:sp>
      <p:sp>
        <p:nvSpPr>
          <p:cNvPr id="4" name="圆角矩形 3"/>
          <p:cNvSpPr/>
          <p:nvPr>
            <p:custDataLst>
              <p:tags r:id="rId3"/>
            </p:custDataLst>
          </p:nvPr>
        </p:nvSpPr>
        <p:spPr>
          <a:xfrm>
            <a:off x="604800" y="1523505"/>
            <a:ext cx="10972800" cy="2308726"/>
          </a:xfrm>
          <a:prstGeom prst="roundRect">
            <a:avLst>
              <a:gd name="adj" fmla="val 50000"/>
            </a:avLst>
          </a:prstGeom>
          <a:solidFill>
            <a:schemeClr val="accent1">
              <a:lumMod val="40000"/>
              <a:lumOff val="60000"/>
              <a:alpha val="25000"/>
            </a:schemeClr>
          </a:solidFill>
          <a:ln w="25400">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sp>
        <p:nvSpPr>
          <p:cNvPr id="5" name="矩形 4"/>
          <p:cNvSpPr/>
          <p:nvPr>
            <p:custDataLst>
              <p:tags r:id="rId4"/>
            </p:custDataLst>
          </p:nvPr>
        </p:nvSpPr>
        <p:spPr>
          <a:xfrm>
            <a:off x="1341713" y="2329273"/>
            <a:ext cx="9508575" cy="1179127"/>
          </a:xfrm>
          <a:prstGeom prst="rect">
            <a:avLst/>
          </a:prstGeom>
          <a:noFill/>
        </p:spPr>
        <p:txBody>
          <a:bodyPr wrap="square" lIns="0" tIns="0" rIns="0" bIns="0" rtlCol="0" anchor="t" anchorCtr="0">
            <a:noAutofit/>
          </a:bodyPr>
          <a:lstStyle/>
          <a:p>
            <a:pPr indent="0" algn="just" fontAlgn="auto">
              <a:lnSpc>
                <a:spcPct val="140000"/>
              </a:lnSpc>
              <a:spcBef>
                <a:spcPct val="0"/>
              </a:spcBef>
              <a:spcAft>
                <a:spcPct val="0"/>
              </a:spcAft>
            </a:pPr>
            <a:r>
              <a:rPr lang="en-US" altLang="en-US" dirty="0">
                <a:solidFill>
                  <a:schemeClr val="tx1">
                    <a:lumMod val="65000"/>
                    <a:lumOff val="35000"/>
                  </a:schemeClr>
                </a:solidFill>
                <a:latin typeface="+mn-ea"/>
                <a:cs typeface="+mn-ea"/>
              </a:rPr>
              <a:t>1.</a:t>
            </a:r>
            <a:r>
              <a:rPr lang="zh-CN" altLang="en-US" dirty="0">
                <a:solidFill>
                  <a:schemeClr val="tx1">
                    <a:lumMod val="65000"/>
                    <a:lumOff val="35000"/>
                  </a:schemeClr>
                </a:solidFill>
                <a:latin typeface="+mn-ea"/>
                <a:cs typeface="+mn-ea"/>
              </a:rPr>
              <a:t>用户角色：前台查看实验室</a:t>
            </a:r>
            <a:r>
              <a:rPr lang="en-US" altLang="zh-CN" dirty="0">
                <a:solidFill>
                  <a:schemeClr val="tx1">
                    <a:lumMod val="65000"/>
                    <a:lumOff val="35000"/>
                  </a:schemeClr>
                </a:solidFill>
                <a:latin typeface="+mn-ea"/>
                <a:cs typeface="+mn-ea"/>
              </a:rPr>
              <a:t> / </a:t>
            </a:r>
            <a:r>
              <a:rPr lang="zh-CN" altLang="en-US" dirty="0">
                <a:solidFill>
                  <a:schemeClr val="tx1">
                    <a:lumMod val="65000"/>
                    <a:lumOff val="35000"/>
                  </a:schemeClr>
                </a:solidFill>
                <a:latin typeface="+mn-ea"/>
                <a:cs typeface="+mn-ea"/>
              </a:rPr>
              <a:t>设备</a:t>
            </a:r>
            <a:r>
              <a:rPr lang="en-US" altLang="zh-CN" dirty="0">
                <a:solidFill>
                  <a:schemeClr val="tx1">
                    <a:lumMod val="65000"/>
                    <a:lumOff val="35000"/>
                  </a:schemeClr>
                </a:solidFill>
                <a:latin typeface="+mn-ea"/>
                <a:cs typeface="+mn-ea"/>
              </a:rPr>
              <a:t> / </a:t>
            </a:r>
            <a:r>
              <a:rPr lang="zh-CN" altLang="en-US" dirty="0">
                <a:solidFill>
                  <a:schemeClr val="tx1">
                    <a:lumMod val="65000"/>
                    <a:lumOff val="35000"/>
                  </a:schemeClr>
                </a:solidFill>
                <a:latin typeface="+mn-ea"/>
                <a:cs typeface="+mn-ea"/>
              </a:rPr>
              <a:t>资讯，后台管理申请</a:t>
            </a:r>
            <a:r>
              <a:rPr lang="en-US" altLang="zh-CN" dirty="0">
                <a:solidFill>
                  <a:schemeClr val="tx1">
                    <a:lumMod val="65000"/>
                    <a:lumOff val="35000"/>
                  </a:schemeClr>
                </a:solidFill>
                <a:latin typeface="+mn-ea"/>
                <a:cs typeface="+mn-ea"/>
              </a:rPr>
              <a:t> / </a:t>
            </a:r>
            <a:r>
              <a:rPr lang="zh-CN" altLang="en-US" dirty="0">
                <a:solidFill>
                  <a:schemeClr val="tx1">
                    <a:lumMod val="65000"/>
                    <a:lumOff val="35000"/>
                  </a:schemeClr>
                </a:solidFill>
                <a:latin typeface="+mn-ea"/>
                <a:cs typeface="+mn-ea"/>
              </a:rPr>
              <a:t>报备</a:t>
            </a:r>
            <a:r>
              <a:rPr lang="en-US" altLang="zh-CN" dirty="0">
                <a:solidFill>
                  <a:schemeClr val="tx1">
                    <a:lumMod val="65000"/>
                    <a:lumOff val="35000"/>
                  </a:schemeClr>
                </a:solidFill>
                <a:latin typeface="+mn-ea"/>
                <a:cs typeface="+mn-ea"/>
              </a:rPr>
              <a:t>.</a:t>
            </a:r>
          </a:p>
          <a:p>
            <a:pPr indent="0" algn="just" fontAlgn="auto">
              <a:lnSpc>
                <a:spcPct val="140000"/>
              </a:lnSpc>
              <a:spcBef>
                <a:spcPct val="0"/>
              </a:spcBef>
              <a:spcAft>
                <a:spcPct val="0"/>
              </a:spcAft>
            </a:pPr>
            <a:r>
              <a:rPr lang="en-US" altLang="zh-CN" dirty="0">
                <a:solidFill>
                  <a:schemeClr val="tx1">
                    <a:lumMod val="65000"/>
                    <a:lumOff val="35000"/>
                  </a:schemeClr>
                </a:solidFill>
                <a:latin typeface="+mn-ea"/>
                <a:cs typeface="+mn-ea"/>
              </a:rPr>
              <a:t>2.</a:t>
            </a:r>
            <a:r>
              <a:rPr lang="zh-CN" altLang="en-US" dirty="0">
                <a:solidFill>
                  <a:schemeClr val="tx1">
                    <a:lumMod val="65000"/>
                    <a:lumOff val="35000"/>
                  </a:schemeClr>
                </a:solidFill>
                <a:latin typeface="+mn-ea"/>
                <a:cs typeface="+mn-ea"/>
              </a:rPr>
              <a:t>管理员角色：全模块管理（实验室、用户、设备、消耗品、论坛等）</a:t>
            </a:r>
            <a:r>
              <a:rPr lang="en-US" altLang="zh-CN" dirty="0">
                <a:solidFill>
                  <a:schemeClr val="tx1">
                    <a:lumMod val="65000"/>
                    <a:lumOff val="35000"/>
                  </a:schemeClr>
                </a:solidFill>
                <a:latin typeface="+mn-ea"/>
                <a:cs typeface="+mn-ea"/>
              </a:rPr>
              <a:t>.</a:t>
            </a:r>
          </a:p>
        </p:txBody>
      </p:sp>
      <p:sp>
        <p:nvSpPr>
          <p:cNvPr id="6" name="矩形 5"/>
          <p:cNvSpPr/>
          <p:nvPr>
            <p:custDataLst>
              <p:tags r:id="rId5"/>
            </p:custDataLst>
          </p:nvPr>
        </p:nvSpPr>
        <p:spPr>
          <a:xfrm>
            <a:off x="1341713" y="1815588"/>
            <a:ext cx="9508575" cy="466698"/>
          </a:xfrm>
          <a:prstGeom prst="rect">
            <a:avLst/>
          </a:prstGeom>
          <a:noFill/>
        </p:spPr>
        <p:txBody>
          <a:bodyPr wrap="square" lIns="0" tIns="0" rIns="0" bIns="0" rtlCol="0" anchor="b" anchorCtr="0">
            <a:noAutofit/>
          </a:bodyPr>
          <a:lstStyle/>
          <a:p>
            <a:pPr algn="l">
              <a:spcBef>
                <a:spcPct val="0"/>
              </a:spcBef>
              <a:spcAft>
                <a:spcPct val="0"/>
              </a:spcAft>
            </a:pPr>
            <a:r>
              <a:rPr lang="zh-CN" altLang="en-US" sz="2400" b="1" dirty="0">
                <a:solidFill>
                  <a:schemeClr val="accent1"/>
                </a:solidFill>
                <a:latin typeface="+mn-ea"/>
                <a:cs typeface="+mn-ea"/>
              </a:rPr>
              <a:t>核心需求</a:t>
            </a:r>
          </a:p>
        </p:txBody>
      </p:sp>
      <p:sp>
        <p:nvSpPr>
          <p:cNvPr id="9" name="圆角矩形 8"/>
          <p:cNvSpPr/>
          <p:nvPr>
            <p:custDataLst>
              <p:tags r:id="rId6"/>
            </p:custDataLst>
          </p:nvPr>
        </p:nvSpPr>
        <p:spPr>
          <a:xfrm>
            <a:off x="609600" y="4057643"/>
            <a:ext cx="10972800" cy="2308726"/>
          </a:xfrm>
          <a:prstGeom prst="roundRect">
            <a:avLst>
              <a:gd name="adj" fmla="val 50000"/>
            </a:avLst>
          </a:prstGeom>
          <a:solidFill>
            <a:schemeClr val="accent1">
              <a:lumMod val="40000"/>
              <a:lumOff val="60000"/>
            </a:schemeClr>
          </a:solidFill>
          <a:ln w="25400">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sp>
        <p:nvSpPr>
          <p:cNvPr id="7" name="矩形 6"/>
          <p:cNvSpPr/>
          <p:nvPr>
            <p:custDataLst>
              <p:tags r:id="rId7"/>
            </p:custDataLst>
          </p:nvPr>
        </p:nvSpPr>
        <p:spPr>
          <a:xfrm>
            <a:off x="1341713" y="4879920"/>
            <a:ext cx="9508575" cy="1179127"/>
          </a:xfrm>
          <a:prstGeom prst="rect">
            <a:avLst/>
          </a:prstGeom>
          <a:noFill/>
        </p:spPr>
        <p:txBody>
          <a:bodyPr wrap="square" lIns="0" tIns="0" rIns="0" bIns="0" rtlCol="0" anchor="t" anchorCtr="0">
            <a:noAutofit/>
          </a:bodyPr>
          <a:lstStyle/>
          <a:p>
            <a:pPr indent="0" algn="just" fontAlgn="auto">
              <a:lnSpc>
                <a:spcPct val="140000"/>
              </a:lnSpc>
              <a:spcBef>
                <a:spcPct val="0"/>
              </a:spcBef>
              <a:spcAft>
                <a:spcPct val="0"/>
              </a:spcAft>
            </a:pPr>
            <a:r>
              <a:rPr lang="en-US" altLang="en-US" dirty="0">
                <a:solidFill>
                  <a:srgbClr val="FFFFFF"/>
                </a:solidFill>
                <a:latin typeface="+mn-ea"/>
                <a:cs typeface="+mn-ea"/>
              </a:rPr>
              <a:t>1.</a:t>
            </a:r>
            <a:r>
              <a:rPr lang="zh-CN" altLang="en-US" dirty="0">
                <a:solidFill>
                  <a:srgbClr val="FFFFFF"/>
                </a:solidFill>
                <a:latin typeface="+mn-ea"/>
                <a:cs typeface="+mn-ea"/>
              </a:rPr>
              <a:t>分析维度：经济可行性，技术可行性</a:t>
            </a:r>
            <a:r>
              <a:rPr lang="en-US" altLang="zh-CN" dirty="0">
                <a:solidFill>
                  <a:srgbClr val="FFFFFF"/>
                </a:solidFill>
                <a:latin typeface="+mn-ea"/>
                <a:cs typeface="+mn-ea"/>
              </a:rPr>
              <a:t>.</a:t>
            </a:r>
          </a:p>
          <a:p>
            <a:pPr indent="0" algn="just" fontAlgn="auto">
              <a:lnSpc>
                <a:spcPct val="140000"/>
              </a:lnSpc>
              <a:spcBef>
                <a:spcPct val="0"/>
              </a:spcBef>
              <a:spcAft>
                <a:spcPct val="0"/>
              </a:spcAft>
            </a:pPr>
            <a:r>
              <a:rPr lang="en-US" altLang="zh-CN" dirty="0">
                <a:solidFill>
                  <a:srgbClr val="FFFFFF"/>
                </a:solidFill>
                <a:latin typeface="+mn-ea"/>
                <a:cs typeface="+mn-ea"/>
              </a:rPr>
              <a:t>2.</a:t>
            </a:r>
            <a:r>
              <a:rPr lang="zh-CN" altLang="en-US" dirty="0">
                <a:solidFill>
                  <a:srgbClr val="FFFFFF"/>
                </a:solidFill>
                <a:latin typeface="+mn-ea"/>
                <a:cs typeface="+mn-ea"/>
              </a:rPr>
              <a:t>结论：（</a:t>
            </a:r>
            <a:r>
              <a:rPr lang="en-US" altLang="zh-CN" dirty="0">
                <a:solidFill>
                  <a:srgbClr val="FFFFFF"/>
                </a:solidFill>
                <a:latin typeface="+mn-ea"/>
                <a:cs typeface="+mn-ea"/>
              </a:rPr>
              <a:t>1</a:t>
            </a:r>
            <a:r>
              <a:rPr lang="zh-CN" altLang="en-US" dirty="0">
                <a:solidFill>
                  <a:srgbClr val="FFFFFF"/>
                </a:solidFill>
                <a:latin typeface="+mn-ea"/>
                <a:cs typeface="+mn-ea"/>
              </a:rPr>
              <a:t>）开发成本可控，间接提升管理效率，带来经济效益</a:t>
            </a:r>
            <a:endParaRPr lang="en-US" altLang="zh-CN" dirty="0">
              <a:solidFill>
                <a:srgbClr val="FFFFFF"/>
              </a:solidFill>
              <a:latin typeface="+mn-ea"/>
              <a:cs typeface="+mn-ea"/>
            </a:endParaRPr>
          </a:p>
          <a:p>
            <a:pPr indent="0" algn="just" fontAlgn="auto">
              <a:lnSpc>
                <a:spcPct val="140000"/>
              </a:lnSpc>
              <a:spcBef>
                <a:spcPct val="0"/>
              </a:spcBef>
              <a:spcAft>
                <a:spcPct val="0"/>
              </a:spcAft>
            </a:pPr>
            <a:r>
              <a:rPr lang="en-US" altLang="zh-CN" dirty="0">
                <a:solidFill>
                  <a:srgbClr val="FFFFFF"/>
                </a:solidFill>
                <a:latin typeface="+mn-ea"/>
                <a:cs typeface="+mn-ea"/>
              </a:rPr>
              <a:t>             </a:t>
            </a:r>
            <a:r>
              <a:rPr lang="zh-CN" altLang="zh-CN" dirty="0">
                <a:solidFill>
                  <a:srgbClr val="FFFFFF"/>
                </a:solidFill>
                <a:latin typeface="+mn-ea"/>
                <a:cs typeface="+mn-ea"/>
              </a:rPr>
              <a:t>（</a:t>
            </a:r>
            <a:r>
              <a:rPr lang="en-US" altLang="zh-CN" dirty="0">
                <a:solidFill>
                  <a:srgbClr val="FFFFFF"/>
                </a:solidFill>
                <a:latin typeface="+mn-ea"/>
                <a:cs typeface="+mn-ea"/>
              </a:rPr>
              <a:t>2</a:t>
            </a:r>
            <a:r>
              <a:rPr lang="zh-CN" altLang="en-US" dirty="0">
                <a:solidFill>
                  <a:srgbClr val="FFFFFF"/>
                </a:solidFill>
                <a:latin typeface="+mn-ea"/>
                <a:cs typeface="+mn-ea"/>
              </a:rPr>
              <a:t>）基于成熟的</a:t>
            </a:r>
            <a:r>
              <a:rPr lang="en-US" altLang="zh-CN" dirty="0">
                <a:solidFill>
                  <a:srgbClr val="FFFFFF"/>
                </a:solidFill>
                <a:latin typeface="+mn-ea"/>
                <a:cs typeface="+mn-ea"/>
              </a:rPr>
              <a:t> Spring Boot+JSP+MySQL </a:t>
            </a:r>
            <a:r>
              <a:rPr lang="zh-CN" altLang="en-US" dirty="0">
                <a:solidFill>
                  <a:srgbClr val="FFFFFF"/>
                </a:solidFill>
                <a:latin typeface="+mn-ea"/>
                <a:cs typeface="+mn-ea"/>
              </a:rPr>
              <a:t>技术栈，</a:t>
            </a:r>
            <a:r>
              <a:rPr lang="en-US" altLang="zh-CN" dirty="0">
                <a:solidFill>
                  <a:srgbClr val="FFFFFF"/>
                </a:solidFill>
                <a:latin typeface="+mn-ea"/>
                <a:cs typeface="+mn-ea"/>
              </a:rPr>
              <a:t>Windows </a:t>
            </a:r>
            <a:r>
              <a:rPr lang="zh-CN" altLang="en-US" dirty="0">
                <a:solidFill>
                  <a:srgbClr val="FFFFFF"/>
                </a:solidFill>
                <a:latin typeface="+mn-ea"/>
                <a:cs typeface="+mn-ea"/>
              </a:rPr>
              <a:t>平台支持，技术方</a:t>
            </a:r>
            <a:r>
              <a:rPr lang="en-US" altLang="zh-CN" dirty="0">
                <a:solidFill>
                  <a:srgbClr val="FFFFFF"/>
                </a:solidFill>
                <a:latin typeface="+mn-ea"/>
                <a:cs typeface="+mn-ea"/>
              </a:rPr>
              <a:t>           </a:t>
            </a:r>
            <a:r>
              <a:rPr lang="zh-CN" altLang="en-US" dirty="0">
                <a:solidFill>
                  <a:srgbClr val="FFFFFF"/>
                </a:solidFill>
                <a:latin typeface="+mn-ea"/>
                <a:cs typeface="+mn-ea"/>
              </a:rPr>
              <a:t>案可行</a:t>
            </a:r>
            <a:r>
              <a:rPr lang="en-US" altLang="zh-CN" dirty="0">
                <a:solidFill>
                  <a:srgbClr val="FFFFFF"/>
                </a:solidFill>
                <a:latin typeface="+mn-ea"/>
                <a:cs typeface="+mn-ea"/>
              </a:rPr>
              <a:t>.</a:t>
            </a:r>
          </a:p>
        </p:txBody>
      </p:sp>
      <p:sp>
        <p:nvSpPr>
          <p:cNvPr id="8" name="矩形 7"/>
          <p:cNvSpPr/>
          <p:nvPr>
            <p:custDataLst>
              <p:tags r:id="rId8"/>
            </p:custDataLst>
          </p:nvPr>
        </p:nvSpPr>
        <p:spPr>
          <a:xfrm>
            <a:off x="1341713" y="4366235"/>
            <a:ext cx="9508575" cy="466698"/>
          </a:xfrm>
          <a:prstGeom prst="rect">
            <a:avLst/>
          </a:prstGeom>
          <a:noFill/>
        </p:spPr>
        <p:txBody>
          <a:bodyPr wrap="square" lIns="0" tIns="0" rIns="0" bIns="0" rtlCol="0" anchor="b" anchorCtr="0">
            <a:noAutofit/>
          </a:bodyPr>
          <a:lstStyle/>
          <a:p>
            <a:pPr algn="l">
              <a:spcBef>
                <a:spcPct val="0"/>
              </a:spcBef>
              <a:spcAft>
                <a:spcPct val="0"/>
              </a:spcAft>
            </a:pPr>
            <a:r>
              <a:rPr lang="zh-CN" altLang="en-US" sz="2400" b="1" dirty="0">
                <a:solidFill>
                  <a:srgbClr val="FFFFFF"/>
                </a:solidFill>
                <a:latin typeface="+mn-ea"/>
                <a:cs typeface="+mn-ea"/>
              </a:rPr>
              <a:t>可行性分析</a:t>
            </a:r>
          </a:p>
        </p:txBody>
      </p:sp>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p>
            <a:r>
              <a:rPr lang="zh-CN" altLang="en-US" dirty="0">
                <a:solidFill>
                  <a:schemeClr val="tx1">
                    <a:lumMod val="65000"/>
                    <a:lumOff val="35000"/>
                  </a:schemeClr>
                </a:solidFill>
              </a:rPr>
              <a:t>系统结构设计</a:t>
            </a:r>
          </a:p>
        </p:txBody>
      </p:sp>
      <p:sp>
        <p:nvSpPr>
          <p:cNvPr id="3" name="内容占位符 2"/>
          <p:cNvSpPr>
            <a:spLocks noGrp="1"/>
          </p:cNvSpPr>
          <p:nvPr>
            <p:ph idx="1"/>
            <p:custDataLst>
              <p:tags r:id="rId3"/>
            </p:custDataLst>
          </p:nvPr>
        </p:nvSpPr>
        <p:spPr/>
        <p:txBody>
          <a:bodyPr/>
          <a:lstStyle/>
          <a:p>
            <a:pPr marL="0" indent="0">
              <a:buNone/>
            </a:pPr>
            <a:r>
              <a:rPr lang="zh-CN" altLang="en-US" dirty="0"/>
              <a:t>一、整体架构</a:t>
            </a:r>
          </a:p>
          <a:p>
            <a:pPr marL="0" indent="0">
              <a:buNone/>
            </a:pPr>
            <a:r>
              <a:rPr lang="zh-CN" altLang="en-US" dirty="0"/>
              <a:t>采用</a:t>
            </a:r>
            <a:r>
              <a:rPr lang="en-US" altLang="zh-CN" dirty="0"/>
              <a:t>B/S </a:t>
            </a:r>
            <a:r>
              <a:rPr lang="zh-CN" altLang="en-US" dirty="0"/>
              <a:t>架构，基于互联网实现，满足开放性、模块性、实用性原则</a:t>
            </a:r>
            <a:r>
              <a:rPr lang="en-US" altLang="zh-CN" dirty="0"/>
              <a:t>.</a:t>
            </a:r>
            <a:endParaRPr lang="zh-CN" altLang="en-US" dirty="0"/>
          </a:p>
          <a:p>
            <a:pPr marL="0" indent="0">
              <a:buNone/>
            </a:pPr>
            <a:r>
              <a:rPr lang="zh-CN" altLang="en-US" dirty="0"/>
              <a:t>二、角色与功能划分</a:t>
            </a:r>
          </a:p>
          <a:p>
            <a:pPr marL="0" indent="0">
              <a:buNone/>
            </a:pPr>
            <a:r>
              <a:rPr lang="zh-CN" altLang="en-US" dirty="0"/>
              <a:t>两大核心角色：用户、管理员，权限差异化设计</a:t>
            </a:r>
            <a:r>
              <a:rPr lang="en-US" altLang="zh-CN" dirty="0"/>
              <a:t>.</a:t>
            </a:r>
            <a:endParaRPr lang="zh-CN" altLang="en-US" dirty="0"/>
          </a:p>
          <a:p>
            <a:pPr marL="0" indent="0">
              <a:buNone/>
            </a:pPr>
            <a:r>
              <a:rPr lang="zh-CN" altLang="en-US" dirty="0"/>
              <a:t>系统功能</a:t>
            </a:r>
            <a:r>
              <a:rPr lang="zh-CN" altLang="en-US" dirty="0" smtClean="0"/>
              <a:t>图：</a:t>
            </a:r>
            <a:endParaRPr lang="zh-CN" altLang="en-US" dirty="0"/>
          </a:p>
          <a:p>
            <a:pPr marL="0" indent="0">
              <a:buNone/>
            </a:pPr>
            <a:r>
              <a:rPr lang="en-US" altLang="zh-CN" dirty="0"/>
              <a:t>      1.</a:t>
            </a:r>
            <a:r>
              <a:rPr lang="zh-CN" altLang="en-US" dirty="0"/>
              <a:t>用户：前台（首页</a:t>
            </a:r>
            <a:r>
              <a:rPr lang="en-US" altLang="zh-CN" dirty="0"/>
              <a:t> / </a:t>
            </a:r>
            <a:r>
              <a:rPr lang="zh-CN" altLang="en-US" dirty="0"/>
              <a:t>实验室</a:t>
            </a:r>
            <a:r>
              <a:rPr lang="en-US" altLang="zh-CN" dirty="0"/>
              <a:t> / </a:t>
            </a:r>
            <a:r>
              <a:rPr lang="zh-CN" altLang="en-US" dirty="0"/>
              <a:t>设备）</a:t>
            </a:r>
            <a:r>
              <a:rPr lang="en-US" altLang="zh-CN" dirty="0"/>
              <a:t>+ </a:t>
            </a:r>
            <a:r>
              <a:rPr lang="zh-CN" altLang="en-US" dirty="0"/>
              <a:t>后台（申请</a:t>
            </a:r>
            <a:r>
              <a:rPr lang="en-US" altLang="zh-CN" dirty="0"/>
              <a:t> / </a:t>
            </a:r>
            <a:r>
              <a:rPr lang="zh-CN" altLang="en-US" dirty="0"/>
              <a:t>报备管理）</a:t>
            </a:r>
            <a:r>
              <a:rPr lang="en-US" altLang="zh-CN" dirty="0"/>
              <a:t>.</a:t>
            </a:r>
            <a:endParaRPr lang="zh-CN" altLang="en-US" dirty="0"/>
          </a:p>
          <a:p>
            <a:pPr marL="0" indent="0">
              <a:buNone/>
            </a:pPr>
            <a:r>
              <a:rPr lang="en-US" altLang="zh-CN" dirty="0"/>
              <a:t>      2.</a:t>
            </a:r>
            <a:r>
              <a:rPr lang="zh-CN" altLang="en-US" dirty="0"/>
              <a:t>管理员</a:t>
            </a:r>
            <a:r>
              <a:rPr lang="zh-CN" altLang="en-US" dirty="0" smtClean="0"/>
              <a:t>：后台模块</a:t>
            </a:r>
            <a:r>
              <a:rPr lang="zh-CN" altLang="en-US" dirty="0"/>
              <a:t>管理（实验室</a:t>
            </a:r>
            <a:r>
              <a:rPr lang="en-US" altLang="zh-CN" dirty="0"/>
              <a:t> / </a:t>
            </a:r>
            <a:r>
              <a:rPr lang="zh-CN" altLang="en-US" dirty="0"/>
              <a:t>用户</a:t>
            </a:r>
            <a:r>
              <a:rPr lang="en-US" altLang="zh-CN" dirty="0"/>
              <a:t> / </a:t>
            </a:r>
            <a:r>
              <a:rPr lang="zh-CN" altLang="en-US" dirty="0"/>
              <a:t>设备</a:t>
            </a:r>
            <a:r>
              <a:rPr lang="en-US" altLang="zh-CN" dirty="0"/>
              <a:t> / </a:t>
            </a:r>
            <a:r>
              <a:rPr lang="zh-CN" altLang="en-US" dirty="0" smtClean="0"/>
              <a:t>等</a:t>
            </a:r>
            <a:r>
              <a:rPr lang="zh-CN" altLang="en-US" dirty="0"/>
              <a:t>）</a:t>
            </a:r>
            <a:r>
              <a:rPr lang="en-US" altLang="zh-CN" dirty="0"/>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1456125" y="520200"/>
            <a:ext cx="10969200" cy="705600"/>
          </a:xfrm>
        </p:spPr>
        <p:txBody>
          <a:bodyPr>
            <a:normAutofit fontScale="90000"/>
          </a:bodyPr>
          <a:lstStyle/>
          <a:p>
            <a:r>
              <a:rPr lang="zh-CN" altLang="en-US" dirty="0">
                <a:solidFill>
                  <a:schemeClr val="tx1">
                    <a:lumMod val="65000"/>
                    <a:lumOff val="35000"/>
                  </a:schemeClr>
                </a:solidFill>
              </a:rPr>
              <a:t>系统功能图（</a:t>
            </a:r>
            <a:r>
              <a:rPr lang="en-US" altLang="zh-CN" dirty="0">
                <a:solidFill>
                  <a:schemeClr val="tx1">
                    <a:lumMod val="65000"/>
                    <a:lumOff val="35000"/>
                  </a:schemeClr>
                </a:solidFill>
              </a:rPr>
              <a:t>ER</a:t>
            </a:r>
            <a:r>
              <a:rPr lang="zh-CN" altLang="en-US" dirty="0">
                <a:solidFill>
                  <a:schemeClr val="tx1">
                    <a:lumMod val="65000"/>
                    <a:lumOff val="35000"/>
                  </a:schemeClr>
                </a:solidFill>
              </a:rPr>
              <a:t>图）</a:t>
            </a:r>
            <a:r>
              <a:rPr lang="zh-CN" altLang="en-US" dirty="0"/>
              <a:t/>
            </a:r>
            <a:br>
              <a:rPr lang="zh-CN" altLang="en-US" dirty="0"/>
            </a:br>
            <a:endParaRPr lang="zh-CN" altLang="en-US" dirty="0"/>
          </a:p>
        </p:txBody>
      </p:sp>
      <p:sp>
        <p:nvSpPr>
          <p:cNvPr id="3" name="内容占位符 2"/>
          <p:cNvSpPr>
            <a:spLocks noGrp="1"/>
          </p:cNvSpPr>
          <p:nvPr>
            <p:ph idx="1"/>
            <p:custDataLst>
              <p:tags r:id="rId3"/>
            </p:custDataLst>
          </p:nvPr>
        </p:nvSpPr>
        <p:spPr/>
        <p:txBody>
          <a:bodyPr/>
          <a:lstStyle/>
          <a:p>
            <a:pPr marL="0" indent="0">
              <a:buNone/>
            </a:pPr>
            <a:r>
              <a:rPr lang="en-US" altLang="zh-CN" dirty="0" smtClean="0"/>
              <a:t>.</a:t>
            </a:r>
            <a:endParaRPr lang="en-US" altLang="zh-CN" dirty="0"/>
          </a:p>
        </p:txBody>
      </p:sp>
      <p:pic>
        <p:nvPicPr>
          <p:cNvPr id="4" name="图片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7968" y="961200"/>
            <a:ext cx="5657907" cy="4877625"/>
          </a:xfrm>
          <a:prstGeom prst="rect">
            <a:avLst/>
          </a:prstGeom>
        </p:spPr>
      </p:pic>
      <p:graphicFrame>
        <p:nvGraphicFramePr>
          <p:cNvPr id="5" name="表格 4"/>
          <p:cNvGraphicFramePr>
            <a:graphicFrameLocks noGrp="1"/>
          </p:cNvGraphicFramePr>
          <p:nvPr>
            <p:extLst>
              <p:ext uri="{D42A27DB-BD31-4B8C-83A1-F6EECF244321}">
                <p14:modId xmlns:p14="http://schemas.microsoft.com/office/powerpoint/2010/main" val="3842849538"/>
              </p:ext>
            </p:extLst>
          </p:nvPr>
        </p:nvGraphicFramePr>
        <p:xfrm>
          <a:off x="6836182" y="683775"/>
          <a:ext cx="5189575" cy="5288400"/>
        </p:xfrm>
        <a:graphic>
          <a:graphicData uri="http://schemas.openxmlformats.org/drawingml/2006/table">
            <a:tbl>
              <a:tblPr firstRow="1" bandRow="1">
                <a:tableStyleId>{5C22544A-7EE6-4342-B048-85BDC9FD1C3A}</a:tableStyleId>
              </a:tblPr>
              <a:tblGrid>
                <a:gridCol w="5189575">
                  <a:extLst>
                    <a:ext uri="{9D8B030D-6E8A-4147-A177-3AD203B41FA5}">
                      <a16:colId xmlns:a16="http://schemas.microsoft.com/office/drawing/2014/main" val="1677492712"/>
                    </a:ext>
                  </a:extLst>
                </a:gridCol>
              </a:tblGrid>
              <a:tr h="683968">
                <a:tc>
                  <a:txBody>
                    <a:bodyPr/>
                    <a:lstStyle/>
                    <a:p>
                      <a:pPr algn="l" defTabSz="914400" rtl="0" eaLnBrk="1" fontAlgn="auto" latinLnBrk="0" hangingPunct="1">
                        <a:lnSpc>
                          <a:spcPct val="100000"/>
                        </a:lnSpc>
                        <a:spcBef>
                          <a:spcPct val="0"/>
                        </a:spcBef>
                        <a:buNone/>
                      </a:pPr>
                      <a:r>
                        <a:rPr lang="zh-CN" altLang="en-US" sz="1600" b="0" u="none" strike="noStrike" kern="1200" cap="none" spc="300" normalizeH="0" baseline="0" dirty="0" smtClean="0">
                          <a:solidFill>
                            <a:schemeClr val="tx1">
                              <a:lumMod val="50000"/>
                              <a:lumOff val="50000"/>
                            </a:schemeClr>
                          </a:solidFill>
                          <a:uFillTx/>
                          <a:latin typeface="黑体" panose="02010609060101010101" pitchFamily="49" charset="-122"/>
                          <a:ea typeface="黑体" panose="02010609060101010101" pitchFamily="49" charset="-122"/>
                          <a:cs typeface="+mj-cs"/>
                        </a:rPr>
                        <a:t>以下是管理员，用户，设备，实验室相关管理实体属性图，如图所示。</a:t>
                      </a:r>
                      <a:endParaRPr lang="zh-CN" altLang="en-US" sz="1600" b="0" u="none" strike="noStrike" kern="1200" cap="none" spc="300" normalizeH="0" baseline="0" dirty="0">
                        <a:solidFill>
                          <a:schemeClr val="tx1">
                            <a:lumMod val="50000"/>
                            <a:lumOff val="50000"/>
                          </a:schemeClr>
                        </a:solidFill>
                        <a:uFillTx/>
                        <a:latin typeface="黑体" panose="02010609060101010101" pitchFamily="49" charset="-122"/>
                        <a:ea typeface="黑体" panose="02010609060101010101" pitchFamily="49" charset="-122"/>
                        <a:cs typeface="+mj-cs"/>
                      </a:endParaRPr>
                    </a:p>
                  </a:txBody>
                  <a:tcPr>
                    <a:solidFill>
                      <a:schemeClr val="bg1"/>
                    </a:solidFill>
                  </a:tcPr>
                </a:tc>
                <a:extLst>
                  <a:ext uri="{0D108BD9-81ED-4DB2-BD59-A6C34878D82A}">
                    <a16:rowId xmlns:a16="http://schemas.microsoft.com/office/drawing/2014/main" val="3715209949"/>
                  </a:ext>
                </a:extLst>
              </a:tr>
              <a:tr h="4604432">
                <a:tc>
                  <a:txBody>
                    <a:bodyPr/>
                    <a:lstStyle/>
                    <a:p>
                      <a:endParaRPr lang="zh-CN" altLang="en-US" dirty="0"/>
                    </a:p>
                  </a:txBody>
                  <a:tcPr>
                    <a:solidFill>
                      <a:srgbClr val="E1EFFC"/>
                    </a:solidFill>
                  </a:tcPr>
                </a:tc>
                <a:extLst>
                  <a:ext uri="{0D108BD9-81ED-4DB2-BD59-A6C34878D82A}">
                    <a16:rowId xmlns:a16="http://schemas.microsoft.com/office/drawing/2014/main" val="2376363893"/>
                  </a:ext>
                </a:extLst>
              </a:tr>
            </a:tbl>
          </a:graphicData>
        </a:graphic>
      </p:graphicFrame>
      <p:pic>
        <p:nvPicPr>
          <p:cNvPr id="6" name="图片 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836182" y="1345722"/>
            <a:ext cx="2735619" cy="4108580"/>
          </a:xfrm>
          <a:prstGeom prst="rect">
            <a:avLst/>
          </a:prstGeom>
        </p:spPr>
      </p:pic>
      <p:pic>
        <p:nvPicPr>
          <p:cNvPr id="7" name="图片 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519966" y="1345722"/>
            <a:ext cx="2488513" cy="4118098"/>
          </a:xfrm>
          <a:prstGeom prst="rect">
            <a:avLst/>
          </a:prstGeom>
        </p:spPr>
      </p:pic>
    </p:spTree>
    <p:custDataLst>
      <p:tags r:id="rId1"/>
    </p:custDataLst>
    <p:extLst>
      <p:ext uri="{BB962C8B-B14F-4D97-AF65-F5344CB8AC3E}">
        <p14:creationId xmlns:p14="http://schemas.microsoft.com/office/powerpoint/2010/main" val="2489092062"/>
      </p:ext>
    </p:ext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p>
            <a:r>
              <a:rPr lang="zh-CN" altLang="en-US" dirty="0">
                <a:solidFill>
                  <a:schemeClr val="tx1">
                    <a:lumMod val="65000"/>
                    <a:lumOff val="35000"/>
                  </a:schemeClr>
                </a:solidFill>
                <a:sym typeface="+mn-ea"/>
              </a:rPr>
              <a:t>管理</a:t>
            </a:r>
            <a:r>
              <a:rPr lang="zh-CN" altLang="en-US" dirty="0" smtClean="0">
                <a:solidFill>
                  <a:schemeClr val="tx1">
                    <a:lumMod val="65000"/>
                    <a:lumOff val="35000"/>
                  </a:schemeClr>
                </a:solidFill>
                <a:sym typeface="+mn-ea"/>
              </a:rPr>
              <a:t>端</a:t>
            </a:r>
            <a:r>
              <a:rPr lang="zh-CN" altLang="en-US" dirty="0">
                <a:solidFill>
                  <a:schemeClr val="tx1">
                    <a:lumMod val="65000"/>
                    <a:lumOff val="35000"/>
                  </a:schemeClr>
                </a:solidFill>
                <a:sym typeface="+mn-ea"/>
              </a:rPr>
              <a:t>功能</a:t>
            </a:r>
            <a:endParaRPr lang="zh-CN" altLang="en-US" dirty="0">
              <a:solidFill>
                <a:schemeClr val="tx1">
                  <a:lumMod val="65000"/>
                  <a:lumOff val="35000"/>
                </a:schemeClr>
              </a:solidFill>
            </a:endParaRPr>
          </a:p>
        </p:txBody>
      </p:sp>
      <p:sp>
        <p:nvSpPr>
          <p:cNvPr id="3" name="内容占位符 2"/>
          <p:cNvSpPr>
            <a:spLocks noGrp="1"/>
          </p:cNvSpPr>
          <p:nvPr>
            <p:ph idx="1"/>
            <p:custDataLst>
              <p:tags r:id="rId3"/>
            </p:custDataLst>
          </p:nvPr>
        </p:nvSpPr>
        <p:spPr/>
        <p:txBody>
          <a:bodyPr/>
          <a:lstStyle/>
          <a:p>
            <a:pPr marL="0" indent="0">
              <a:buNone/>
            </a:pPr>
            <a:r>
              <a:rPr lang="en-US" altLang="zh-CN" dirty="0" smtClean="0"/>
              <a:t>1</a:t>
            </a:r>
            <a:r>
              <a:rPr lang="en-US" altLang="zh-CN" dirty="0" smtClean="0"/>
              <a:t>.</a:t>
            </a:r>
            <a:r>
              <a:rPr lang="zh-CN" altLang="en-US" dirty="0"/>
              <a:t>实验室申请</a:t>
            </a:r>
            <a:r>
              <a:rPr lang="zh-CN" altLang="en-US" dirty="0" smtClean="0"/>
              <a:t>：</a:t>
            </a:r>
            <a:endParaRPr lang="en-US" altLang="zh-CN" dirty="0" smtClean="0"/>
          </a:p>
          <a:p>
            <a:pPr marL="0" indent="0">
              <a:buNone/>
            </a:pPr>
            <a:r>
              <a:rPr lang="zh-CN" altLang="en-US" dirty="0" smtClean="0"/>
              <a:t>实验室管理系统登录，输入帐号密码，进入后台</a:t>
            </a:r>
            <a:r>
              <a:rPr lang="zh-CN" altLang="en-US" dirty="0" smtClean="0"/>
              <a:t>（</a:t>
            </a:r>
            <a:r>
              <a:rPr lang="zh-CN" altLang="en-US" dirty="0"/>
              <a:t>图</a:t>
            </a:r>
            <a:r>
              <a:rPr lang="en-US" altLang="zh-CN" dirty="0"/>
              <a:t> </a:t>
            </a:r>
            <a:r>
              <a:rPr lang="en-US" altLang="zh-CN" dirty="0" smtClean="0"/>
              <a:t>4-6</a:t>
            </a:r>
            <a:r>
              <a:rPr lang="zh-CN" altLang="en-US" dirty="0" smtClean="0"/>
              <a:t>）</a:t>
            </a:r>
            <a:r>
              <a:rPr lang="zh-CN" altLang="en-US" dirty="0"/>
              <a:t>；</a:t>
            </a:r>
          </a:p>
          <a:p>
            <a:pPr marL="0" indent="0">
              <a:buNone/>
            </a:pPr>
            <a:r>
              <a:rPr lang="en-US" altLang="zh-CN" dirty="0"/>
              <a:t>2</a:t>
            </a:r>
            <a:r>
              <a:rPr lang="en-US" altLang="zh-CN" dirty="0" smtClean="0"/>
              <a:t>.</a:t>
            </a:r>
            <a:r>
              <a:rPr lang="zh-CN" altLang="en-US" dirty="0" smtClean="0"/>
              <a:t>设备</a:t>
            </a:r>
            <a:r>
              <a:rPr lang="zh-CN" altLang="en-US" dirty="0"/>
              <a:t>管理</a:t>
            </a:r>
            <a:r>
              <a:rPr lang="zh-CN" altLang="en-US" dirty="0" smtClean="0"/>
              <a:t>：</a:t>
            </a:r>
            <a:endParaRPr lang="en-US" altLang="zh-CN" dirty="0" smtClean="0"/>
          </a:p>
          <a:p>
            <a:pPr marL="0" indent="0">
              <a:buNone/>
            </a:pPr>
            <a:r>
              <a:rPr lang="zh-CN" altLang="en-US" dirty="0" smtClean="0"/>
              <a:t>选择设备</a:t>
            </a:r>
            <a:r>
              <a:rPr lang="zh-CN" altLang="en-US" dirty="0"/>
              <a:t>、填写报备内容，查看审核结果（图</a:t>
            </a:r>
            <a:r>
              <a:rPr lang="en-US" altLang="zh-CN" dirty="0"/>
              <a:t> </a:t>
            </a:r>
            <a:r>
              <a:rPr lang="en-US" altLang="zh-CN" dirty="0" smtClean="0"/>
              <a:t>4-7</a:t>
            </a:r>
            <a:r>
              <a:rPr lang="zh-CN" altLang="en-US" dirty="0" smtClean="0"/>
              <a:t>）</a:t>
            </a:r>
            <a:r>
              <a:rPr lang="zh-CN" altLang="en-US" dirty="0"/>
              <a:t>；</a:t>
            </a:r>
          </a:p>
          <a:p>
            <a:pPr marL="0" indent="0">
              <a:buNone/>
            </a:pPr>
            <a:endParaRPr lang="zh-CN" altLang="en-US" dirty="0"/>
          </a:p>
          <a:p>
            <a:endParaRPr lang="zh-CN" altLang="en-US" dirty="0"/>
          </a:p>
        </p:txBody>
      </p:sp>
      <p:sp>
        <p:nvSpPr>
          <p:cNvPr id="5" name="文本框 4"/>
          <p:cNvSpPr txBox="1"/>
          <p:nvPr/>
        </p:nvSpPr>
        <p:spPr>
          <a:xfrm>
            <a:off x="2603500" y="5988050"/>
            <a:ext cx="4064000" cy="368300"/>
          </a:xfrm>
          <a:prstGeom prst="rect">
            <a:avLst/>
          </a:prstGeom>
          <a:noFill/>
        </p:spPr>
        <p:txBody>
          <a:bodyPr wrap="square" rtlCol="0">
            <a:spAutoFit/>
          </a:bodyPr>
          <a:lstStyle/>
          <a:p>
            <a:r>
              <a:rPr lang="en-US" altLang="zh-CN" dirty="0" smtClean="0">
                <a:sym typeface="+mn-ea"/>
              </a:rPr>
              <a:t>4-6</a:t>
            </a:r>
            <a:endParaRPr lang="zh-CN" altLang="en-US" dirty="0"/>
          </a:p>
        </p:txBody>
      </p:sp>
      <p:sp>
        <p:nvSpPr>
          <p:cNvPr id="8" name="文本框 7"/>
          <p:cNvSpPr txBox="1"/>
          <p:nvPr/>
        </p:nvSpPr>
        <p:spPr>
          <a:xfrm>
            <a:off x="7858760" y="5988050"/>
            <a:ext cx="4064000" cy="368300"/>
          </a:xfrm>
          <a:prstGeom prst="rect">
            <a:avLst/>
          </a:prstGeom>
          <a:noFill/>
        </p:spPr>
        <p:txBody>
          <a:bodyPr wrap="square" rtlCol="0">
            <a:spAutoFit/>
          </a:bodyPr>
          <a:lstStyle/>
          <a:p>
            <a:r>
              <a:rPr lang="en-US" altLang="zh-CN" dirty="0" smtClean="0">
                <a:sym typeface="+mn-ea"/>
              </a:rPr>
              <a:t>4-7</a:t>
            </a:r>
            <a:endParaRPr lang="zh-CN" altLang="en-US" dirty="0"/>
          </a:p>
        </p:txBody>
      </p:sp>
      <p:pic>
        <p:nvPicPr>
          <p:cNvPr id="6" name="图片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18990" y="3428999"/>
            <a:ext cx="3834010" cy="2524727"/>
          </a:xfrm>
          <a:prstGeom prst="rect">
            <a:avLst/>
          </a:prstGeom>
        </p:spPr>
      </p:pic>
      <p:pic>
        <p:nvPicPr>
          <p:cNvPr id="9" name="图片 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66994" y="3428998"/>
            <a:ext cx="4991467" cy="2524728"/>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med">
        <p:pull/>
      </p:transition>
    </mc:Choice>
    <mc:Fallback xmlns="">
      <p:transition spd="med">
        <p:pull/>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p>
            <a:r>
              <a:rPr lang="zh-CN" altLang="en-US" dirty="0">
                <a:solidFill>
                  <a:schemeClr val="tx1">
                    <a:lumMod val="65000"/>
                    <a:lumOff val="35000"/>
                  </a:schemeClr>
                </a:solidFill>
                <a:sym typeface="+mn-ea"/>
              </a:rPr>
              <a:t>管理员端功能</a:t>
            </a:r>
            <a:endParaRPr lang="zh-CN" altLang="en-US" dirty="0">
              <a:solidFill>
                <a:schemeClr val="tx1">
                  <a:lumMod val="65000"/>
                  <a:lumOff val="35000"/>
                </a:schemeClr>
              </a:solidFill>
            </a:endParaRPr>
          </a:p>
        </p:txBody>
      </p:sp>
      <p:sp>
        <p:nvSpPr>
          <p:cNvPr id="3" name="内容占位符 2"/>
          <p:cNvSpPr>
            <a:spLocks noGrp="1"/>
          </p:cNvSpPr>
          <p:nvPr>
            <p:ph idx="1"/>
            <p:custDataLst>
              <p:tags r:id="rId3"/>
            </p:custDataLst>
          </p:nvPr>
        </p:nvSpPr>
        <p:spPr/>
        <p:txBody>
          <a:bodyPr/>
          <a:lstStyle/>
          <a:p>
            <a:pPr marL="0" indent="0">
              <a:buNone/>
            </a:pPr>
            <a:r>
              <a:rPr lang="en-US" altLang="zh-CN" dirty="0">
                <a:sym typeface="+mn-ea"/>
              </a:rPr>
              <a:t>1.</a:t>
            </a:r>
            <a:r>
              <a:rPr lang="zh-CN" altLang="en-US" dirty="0">
                <a:sym typeface="+mn-ea"/>
              </a:rPr>
              <a:t>实验室管理</a:t>
            </a:r>
            <a:r>
              <a:rPr lang="zh-CN" altLang="en-US" dirty="0" smtClean="0">
                <a:sym typeface="+mn-ea"/>
              </a:rPr>
              <a:t>：新增</a:t>
            </a:r>
            <a:r>
              <a:rPr lang="en-US" altLang="zh-CN" dirty="0" smtClean="0">
                <a:sym typeface="+mn-ea"/>
              </a:rPr>
              <a:t> / </a:t>
            </a:r>
            <a:r>
              <a:rPr lang="zh-CN" altLang="en-US" dirty="0" smtClean="0">
                <a:sym typeface="+mn-ea"/>
              </a:rPr>
              <a:t>修改</a:t>
            </a:r>
            <a:r>
              <a:rPr lang="en-US" altLang="zh-CN" dirty="0" smtClean="0">
                <a:sym typeface="+mn-ea"/>
              </a:rPr>
              <a:t> / </a:t>
            </a:r>
            <a:r>
              <a:rPr lang="zh-CN" altLang="en-US" dirty="0" smtClean="0">
                <a:sym typeface="+mn-ea"/>
              </a:rPr>
              <a:t>删除实验室信息（编号、位置、容纳人数）（图</a:t>
            </a:r>
            <a:r>
              <a:rPr lang="en-US" altLang="zh-CN" dirty="0" smtClean="0">
                <a:sym typeface="+mn-ea"/>
              </a:rPr>
              <a:t> </a:t>
            </a:r>
            <a:r>
              <a:rPr lang="en-US" altLang="zh-CN" dirty="0" smtClean="0">
                <a:sym typeface="+mn-ea"/>
              </a:rPr>
              <a:t>4-8</a:t>
            </a:r>
            <a:r>
              <a:rPr lang="zh-CN" altLang="en-US" dirty="0" smtClean="0">
                <a:sym typeface="+mn-ea"/>
              </a:rPr>
              <a:t>）；</a:t>
            </a:r>
            <a:endParaRPr lang="zh-CN" altLang="en-US" dirty="0" smtClean="0"/>
          </a:p>
          <a:p>
            <a:pPr marL="0" indent="0">
              <a:buNone/>
            </a:pPr>
            <a:r>
              <a:rPr lang="en-US" altLang="zh-CN" dirty="0" smtClean="0">
                <a:sym typeface="+mn-ea"/>
              </a:rPr>
              <a:t>2</a:t>
            </a:r>
            <a:r>
              <a:rPr lang="en-US" altLang="zh-CN" dirty="0">
                <a:sym typeface="+mn-ea"/>
              </a:rPr>
              <a:t>.</a:t>
            </a:r>
            <a:r>
              <a:rPr lang="zh-CN" altLang="en-US" dirty="0">
                <a:sym typeface="+mn-ea"/>
              </a:rPr>
              <a:t>申请审核</a:t>
            </a:r>
            <a:r>
              <a:rPr lang="zh-CN" altLang="en-US" dirty="0" smtClean="0">
                <a:sym typeface="+mn-ea"/>
              </a:rPr>
              <a:t>：审核用户实验室</a:t>
            </a:r>
            <a:r>
              <a:rPr lang="en-US" altLang="zh-CN" dirty="0" smtClean="0">
                <a:sym typeface="+mn-ea"/>
              </a:rPr>
              <a:t> / </a:t>
            </a:r>
            <a:r>
              <a:rPr lang="zh-CN" altLang="en-US" dirty="0" smtClean="0">
                <a:sym typeface="+mn-ea"/>
              </a:rPr>
              <a:t>设备申请，填写审核回复（图</a:t>
            </a:r>
            <a:r>
              <a:rPr lang="en-US" altLang="zh-CN" dirty="0" smtClean="0">
                <a:sym typeface="+mn-ea"/>
              </a:rPr>
              <a:t> </a:t>
            </a:r>
            <a:r>
              <a:rPr lang="en-US" altLang="zh-CN" dirty="0" smtClean="0">
                <a:sym typeface="+mn-ea"/>
              </a:rPr>
              <a:t>4-9</a:t>
            </a:r>
            <a:r>
              <a:rPr lang="zh-CN" altLang="en-US" dirty="0" smtClean="0">
                <a:sym typeface="+mn-ea"/>
              </a:rPr>
              <a:t>）；</a:t>
            </a:r>
          </a:p>
          <a:p>
            <a:pPr marL="0" indent="0">
              <a:buNone/>
            </a:pPr>
            <a:r>
              <a:rPr lang="en-US" altLang="zh-CN" dirty="0" smtClean="0">
                <a:sym typeface="+mn-ea"/>
              </a:rPr>
              <a:t>3.</a:t>
            </a:r>
            <a:r>
              <a:rPr lang="zh-CN" altLang="en-US" dirty="0" smtClean="0">
                <a:sym typeface="+mn-ea"/>
              </a:rPr>
              <a:t>设备管理：维护设备信息，处理设备报备；</a:t>
            </a:r>
            <a:endParaRPr lang="zh-CN" altLang="en-US" dirty="0" smtClean="0"/>
          </a:p>
          <a:p>
            <a:endParaRPr lang="zh-CN" altLang="en-US" dirty="0"/>
          </a:p>
        </p:txBody>
      </p:sp>
      <p:sp>
        <p:nvSpPr>
          <p:cNvPr id="8" name="文本框 7"/>
          <p:cNvSpPr txBox="1"/>
          <p:nvPr/>
        </p:nvSpPr>
        <p:spPr>
          <a:xfrm>
            <a:off x="2905760" y="6157525"/>
            <a:ext cx="4064000" cy="368300"/>
          </a:xfrm>
          <a:prstGeom prst="rect">
            <a:avLst/>
          </a:prstGeom>
          <a:noFill/>
        </p:spPr>
        <p:txBody>
          <a:bodyPr wrap="square" rtlCol="0">
            <a:spAutoFit/>
          </a:bodyPr>
          <a:lstStyle/>
          <a:p>
            <a:r>
              <a:rPr lang="en-US" altLang="zh-CN" dirty="0" smtClean="0">
                <a:sym typeface="+mn-ea"/>
              </a:rPr>
              <a:t>4-8</a:t>
            </a:r>
            <a:endParaRPr lang="zh-CN" altLang="en-US" dirty="0"/>
          </a:p>
        </p:txBody>
      </p:sp>
      <p:sp>
        <p:nvSpPr>
          <p:cNvPr id="9" name="文本框 8"/>
          <p:cNvSpPr txBox="1"/>
          <p:nvPr/>
        </p:nvSpPr>
        <p:spPr>
          <a:xfrm>
            <a:off x="8817610" y="6137787"/>
            <a:ext cx="4064000" cy="368300"/>
          </a:xfrm>
          <a:prstGeom prst="rect">
            <a:avLst/>
          </a:prstGeom>
          <a:noFill/>
        </p:spPr>
        <p:txBody>
          <a:bodyPr wrap="square" rtlCol="0">
            <a:spAutoFit/>
          </a:bodyPr>
          <a:lstStyle/>
          <a:p>
            <a:r>
              <a:rPr lang="en-US" altLang="zh-CN" dirty="0" smtClean="0">
                <a:sym typeface="+mn-ea"/>
              </a:rPr>
              <a:t>4-9</a:t>
            </a:r>
            <a:endParaRPr lang="zh-CN" altLang="en-US" dirty="0"/>
          </a:p>
        </p:txBody>
      </p:sp>
      <p:pic>
        <p:nvPicPr>
          <p:cNvPr id="5" name="图片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8400" y="2981767"/>
            <a:ext cx="5428807" cy="3031085"/>
          </a:xfrm>
          <a:prstGeom prst="rect">
            <a:avLst/>
          </a:prstGeom>
        </p:spPr>
      </p:pic>
      <p:pic>
        <p:nvPicPr>
          <p:cNvPr id="6" name="图片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7513" y="2981767"/>
            <a:ext cx="5941137" cy="3031085"/>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med">
        <p:pull/>
      </p:transition>
    </mc:Choice>
    <mc:Fallback xmlns="">
      <p:transition spd="med">
        <p:pull/>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p>
            <a:r>
              <a:rPr lang="zh-CN" altLang="en-US" dirty="0">
                <a:solidFill>
                  <a:schemeClr val="tx1">
                    <a:lumMod val="65000"/>
                    <a:lumOff val="35000"/>
                  </a:schemeClr>
                </a:solidFill>
                <a:sym typeface="+mn-ea"/>
              </a:rPr>
              <a:t>管理员端功能</a:t>
            </a:r>
            <a:endParaRPr lang="zh-CN" altLang="en-US" dirty="0">
              <a:solidFill>
                <a:schemeClr val="tx1">
                  <a:lumMod val="65000"/>
                  <a:lumOff val="35000"/>
                </a:schemeClr>
              </a:solidFill>
            </a:endParaRPr>
          </a:p>
        </p:txBody>
      </p:sp>
      <p:sp>
        <p:nvSpPr>
          <p:cNvPr id="3" name="内容占位符 2"/>
          <p:cNvSpPr>
            <a:spLocks noGrp="1"/>
          </p:cNvSpPr>
          <p:nvPr>
            <p:ph idx="1"/>
            <p:custDataLst>
              <p:tags r:id="rId3"/>
            </p:custDataLst>
          </p:nvPr>
        </p:nvSpPr>
        <p:spPr/>
        <p:txBody>
          <a:bodyPr/>
          <a:lstStyle/>
          <a:p>
            <a:pPr marL="0" indent="0">
              <a:buNone/>
            </a:pPr>
            <a:r>
              <a:rPr lang="en-US" altLang="zh-CN" dirty="0" smtClean="0">
                <a:sym typeface="+mn-ea"/>
              </a:rPr>
              <a:t>4.</a:t>
            </a:r>
            <a:r>
              <a:rPr lang="zh-CN" altLang="en-US" dirty="0" smtClean="0">
                <a:sym typeface="+mn-ea"/>
              </a:rPr>
              <a:t>用户</a:t>
            </a:r>
            <a:r>
              <a:rPr lang="zh-CN" altLang="en-US" dirty="0" smtClean="0">
                <a:sym typeface="+mn-ea"/>
              </a:rPr>
              <a:t>管理：</a:t>
            </a:r>
            <a:endParaRPr lang="en-US" altLang="zh-CN" dirty="0" smtClean="0">
              <a:sym typeface="+mn-ea"/>
            </a:endParaRPr>
          </a:p>
          <a:p>
            <a:pPr marL="0" indent="0">
              <a:buNone/>
            </a:pPr>
            <a:r>
              <a:rPr lang="zh-CN" altLang="en-US" dirty="0" smtClean="0">
                <a:sym typeface="+mn-ea"/>
              </a:rPr>
              <a:t>新增</a:t>
            </a:r>
            <a:r>
              <a:rPr lang="en-US" altLang="zh-CN" dirty="0" smtClean="0">
                <a:sym typeface="+mn-ea"/>
              </a:rPr>
              <a:t> </a:t>
            </a:r>
            <a:r>
              <a:rPr lang="en-US" altLang="zh-CN" dirty="0">
                <a:sym typeface="+mn-ea"/>
              </a:rPr>
              <a:t>/ </a:t>
            </a:r>
            <a:r>
              <a:rPr lang="zh-CN" altLang="en-US" dirty="0">
                <a:sym typeface="+mn-ea"/>
              </a:rPr>
              <a:t>修改</a:t>
            </a:r>
            <a:r>
              <a:rPr lang="en-US" altLang="zh-CN" dirty="0">
                <a:sym typeface="+mn-ea"/>
              </a:rPr>
              <a:t> / </a:t>
            </a:r>
            <a:r>
              <a:rPr lang="zh-CN" altLang="en-US" dirty="0" smtClean="0">
                <a:sym typeface="+mn-ea"/>
              </a:rPr>
              <a:t>删除</a:t>
            </a:r>
            <a:r>
              <a:rPr lang="zh-CN" altLang="en-US" dirty="0" smtClean="0">
                <a:sym typeface="+mn-ea"/>
              </a:rPr>
              <a:t>用户</a:t>
            </a:r>
            <a:r>
              <a:rPr lang="zh-CN" altLang="en-US" dirty="0" smtClean="0">
                <a:sym typeface="+mn-ea"/>
              </a:rPr>
              <a:t>信息，如下图</a:t>
            </a:r>
            <a:r>
              <a:rPr lang="en-US" altLang="zh-CN" dirty="0" smtClean="0">
                <a:sym typeface="+mn-ea"/>
              </a:rPr>
              <a:t>4-10</a:t>
            </a:r>
            <a:r>
              <a:rPr lang="zh-CN" altLang="en-US" dirty="0" smtClean="0">
                <a:sym typeface="+mn-ea"/>
              </a:rPr>
              <a:t>所示；</a:t>
            </a:r>
            <a:endParaRPr lang="en-US" altLang="zh-CN" dirty="0" smtClean="0">
              <a:sym typeface="+mn-ea"/>
            </a:endParaRPr>
          </a:p>
          <a:p>
            <a:pPr marL="0" indent="0">
              <a:buNone/>
            </a:pPr>
            <a:r>
              <a:rPr lang="zh-CN" altLang="en-US" dirty="0" smtClean="0"/>
              <a:t>例</a:t>
            </a:r>
            <a:r>
              <a:rPr lang="en-US" altLang="zh-CN" dirty="0"/>
              <a:t>:</a:t>
            </a:r>
            <a:r>
              <a:rPr lang="zh-CN" altLang="en-US" dirty="0" smtClean="0"/>
              <a:t>新增</a:t>
            </a:r>
            <a:r>
              <a:rPr lang="en-US" altLang="zh-CN" dirty="0" err="1" smtClean="0"/>
              <a:t>fy</a:t>
            </a:r>
            <a:r>
              <a:rPr lang="zh-CN" altLang="en-US" dirty="0" smtClean="0"/>
              <a:t>用户，密码</a:t>
            </a:r>
            <a:r>
              <a:rPr lang="en-US" altLang="zh-CN" dirty="0" smtClean="0"/>
              <a:t>123456</a:t>
            </a:r>
            <a:r>
              <a:rPr lang="zh-CN" altLang="en-US" dirty="0" smtClean="0"/>
              <a:t>，</a:t>
            </a:r>
            <a:r>
              <a:rPr lang="zh-CN" altLang="en-US" dirty="0"/>
              <a:t>添加</a:t>
            </a:r>
            <a:r>
              <a:rPr lang="zh-CN" altLang="en-US" dirty="0" smtClean="0"/>
              <a:t>相关信息，保存提交即可</a:t>
            </a:r>
            <a:r>
              <a:rPr lang="en-US" altLang="zh-CN" dirty="0" smtClean="0"/>
              <a:t>,</a:t>
            </a:r>
            <a:r>
              <a:rPr lang="zh-CN" altLang="en-US" dirty="0" smtClean="0"/>
              <a:t>结果如图</a:t>
            </a:r>
            <a:r>
              <a:rPr lang="en-US" altLang="zh-CN" dirty="0" smtClean="0"/>
              <a:t>4-11</a:t>
            </a:r>
            <a:r>
              <a:rPr lang="zh-CN" altLang="en-US" dirty="0" smtClean="0"/>
              <a:t>；</a:t>
            </a:r>
            <a:endParaRPr lang="zh-CN" altLang="en-US" dirty="0"/>
          </a:p>
          <a:p>
            <a:endParaRPr lang="zh-CN" altLang="en-US" dirty="0"/>
          </a:p>
        </p:txBody>
      </p:sp>
      <p:sp>
        <p:nvSpPr>
          <p:cNvPr id="8" name="文本框 7"/>
          <p:cNvSpPr txBox="1"/>
          <p:nvPr/>
        </p:nvSpPr>
        <p:spPr>
          <a:xfrm>
            <a:off x="2905760" y="6157525"/>
            <a:ext cx="4064000" cy="368300"/>
          </a:xfrm>
          <a:prstGeom prst="rect">
            <a:avLst/>
          </a:prstGeom>
          <a:noFill/>
        </p:spPr>
        <p:txBody>
          <a:bodyPr wrap="square" rtlCol="0">
            <a:spAutoFit/>
          </a:bodyPr>
          <a:lstStyle/>
          <a:p>
            <a:r>
              <a:rPr lang="en-US" altLang="zh-CN" dirty="0" smtClean="0">
                <a:sym typeface="+mn-ea"/>
              </a:rPr>
              <a:t>4-10</a:t>
            </a:r>
            <a:endParaRPr lang="zh-CN" altLang="en-US" dirty="0"/>
          </a:p>
        </p:txBody>
      </p:sp>
      <p:sp>
        <p:nvSpPr>
          <p:cNvPr id="9" name="文本框 8"/>
          <p:cNvSpPr txBox="1"/>
          <p:nvPr/>
        </p:nvSpPr>
        <p:spPr>
          <a:xfrm>
            <a:off x="8817610" y="6137787"/>
            <a:ext cx="4064000" cy="368300"/>
          </a:xfrm>
          <a:prstGeom prst="rect">
            <a:avLst/>
          </a:prstGeom>
          <a:noFill/>
        </p:spPr>
        <p:txBody>
          <a:bodyPr wrap="square" rtlCol="0">
            <a:spAutoFit/>
          </a:bodyPr>
          <a:lstStyle/>
          <a:p>
            <a:r>
              <a:rPr lang="en-US" altLang="zh-CN" dirty="0" smtClean="0">
                <a:sym typeface="+mn-ea"/>
              </a:rPr>
              <a:t>4-11</a:t>
            </a:r>
            <a:endParaRPr lang="zh-CN" altLang="en-US" dirty="0"/>
          </a:p>
        </p:txBody>
      </p:sp>
      <p:pic>
        <p:nvPicPr>
          <p:cNvPr id="4" name="图片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8400" y="3141463"/>
            <a:ext cx="5419073" cy="2927862"/>
          </a:xfrm>
          <a:prstGeom prst="rect">
            <a:avLst/>
          </a:prstGeom>
        </p:spPr>
      </p:pic>
      <p:pic>
        <p:nvPicPr>
          <p:cNvPr id="7" name="图片 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71968" y="3126675"/>
            <a:ext cx="5404026" cy="2942650"/>
          </a:xfrm>
          <a:prstGeom prst="rect">
            <a:avLst/>
          </a:prstGeom>
        </p:spPr>
      </p:pic>
    </p:spTree>
    <p:custDataLst>
      <p:tags r:id="rId1"/>
    </p:custDataLst>
    <p:extLst>
      <p:ext uri="{BB962C8B-B14F-4D97-AF65-F5344CB8AC3E}">
        <p14:creationId xmlns:p14="http://schemas.microsoft.com/office/powerpoint/2010/main" val="1984123241"/>
      </p:ext>
    </p:extLst>
  </p:cSld>
  <p:clrMapOvr>
    <a:masterClrMapping/>
  </p:clrMapOvr>
  <mc:AlternateContent xmlns:mc="http://schemas.openxmlformats.org/markup-compatibility/2006" xmlns:p14="http://schemas.microsoft.com/office/powerpoint/2010/main">
    <mc:Choice Requires="p14">
      <p:transition spd="med">
        <p:pull/>
      </p:transition>
    </mc:Choice>
    <mc:Fallback xmlns="">
      <p:transition spd="med">
        <p:pull/>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p>
            <a:r>
              <a:rPr lang="zh-CN" altLang="en-US" dirty="0">
                <a:solidFill>
                  <a:schemeClr val="tx1">
                    <a:lumMod val="65000"/>
                    <a:lumOff val="35000"/>
                  </a:schemeClr>
                </a:solidFill>
                <a:sym typeface="+mn-ea"/>
              </a:rPr>
              <a:t>用户</a:t>
            </a:r>
            <a:r>
              <a:rPr lang="zh-CN" altLang="en-US" dirty="0" smtClean="0">
                <a:solidFill>
                  <a:schemeClr val="tx1">
                    <a:lumMod val="65000"/>
                    <a:lumOff val="35000"/>
                  </a:schemeClr>
                </a:solidFill>
                <a:sym typeface="+mn-ea"/>
              </a:rPr>
              <a:t>端</a:t>
            </a:r>
            <a:r>
              <a:rPr lang="zh-CN" altLang="en-US" dirty="0">
                <a:solidFill>
                  <a:schemeClr val="tx1">
                    <a:lumMod val="65000"/>
                    <a:lumOff val="35000"/>
                  </a:schemeClr>
                </a:solidFill>
                <a:sym typeface="+mn-ea"/>
              </a:rPr>
              <a:t>功能</a:t>
            </a:r>
            <a:endParaRPr lang="zh-CN" altLang="en-US" dirty="0">
              <a:solidFill>
                <a:schemeClr val="tx1">
                  <a:lumMod val="65000"/>
                  <a:lumOff val="35000"/>
                </a:schemeClr>
              </a:solidFill>
            </a:endParaRPr>
          </a:p>
        </p:txBody>
      </p:sp>
      <p:sp>
        <p:nvSpPr>
          <p:cNvPr id="3" name="内容占位符 2"/>
          <p:cNvSpPr>
            <a:spLocks noGrp="1"/>
          </p:cNvSpPr>
          <p:nvPr>
            <p:ph idx="1"/>
            <p:custDataLst>
              <p:tags r:id="rId3"/>
            </p:custDataLst>
          </p:nvPr>
        </p:nvSpPr>
        <p:spPr/>
        <p:txBody>
          <a:bodyPr/>
          <a:lstStyle/>
          <a:p>
            <a:pPr marL="0" indent="0">
              <a:buNone/>
            </a:pPr>
            <a:r>
              <a:rPr lang="zh-CN" altLang="en-US" dirty="0" smtClean="0"/>
              <a:t>进入首页，如图</a:t>
            </a:r>
            <a:r>
              <a:rPr lang="en-US" altLang="zh-CN" dirty="0" smtClean="0"/>
              <a:t>4-12</a:t>
            </a:r>
            <a:r>
              <a:rPr lang="zh-CN" altLang="en-US" dirty="0" smtClean="0"/>
              <a:t>；实验室展示如图</a:t>
            </a:r>
            <a:r>
              <a:rPr lang="en-US" altLang="zh-CN" dirty="0" smtClean="0"/>
              <a:t>4-13</a:t>
            </a:r>
            <a:r>
              <a:rPr lang="zh-CN" altLang="en-US" dirty="0" smtClean="0"/>
              <a:t>所示</a:t>
            </a:r>
            <a:endParaRPr lang="zh-CN" altLang="en-US" dirty="0"/>
          </a:p>
        </p:txBody>
      </p:sp>
      <p:sp>
        <p:nvSpPr>
          <p:cNvPr id="5" name="文本框 4"/>
          <p:cNvSpPr txBox="1"/>
          <p:nvPr/>
        </p:nvSpPr>
        <p:spPr>
          <a:xfrm>
            <a:off x="2784475" y="5691517"/>
            <a:ext cx="4064000" cy="368300"/>
          </a:xfrm>
          <a:prstGeom prst="rect">
            <a:avLst/>
          </a:prstGeom>
          <a:noFill/>
        </p:spPr>
        <p:txBody>
          <a:bodyPr wrap="square" rtlCol="0">
            <a:spAutoFit/>
          </a:bodyPr>
          <a:lstStyle/>
          <a:p>
            <a:r>
              <a:rPr lang="en-US" altLang="zh-CN" dirty="0" smtClean="0">
                <a:sym typeface="+mn-ea"/>
              </a:rPr>
              <a:t>4-12</a:t>
            </a:r>
            <a:endParaRPr lang="zh-CN" altLang="en-US" dirty="0"/>
          </a:p>
        </p:txBody>
      </p:sp>
      <p:sp>
        <p:nvSpPr>
          <p:cNvPr id="8" name="文本框 7"/>
          <p:cNvSpPr txBox="1"/>
          <p:nvPr/>
        </p:nvSpPr>
        <p:spPr>
          <a:xfrm>
            <a:off x="8820785" y="5691517"/>
            <a:ext cx="4064000" cy="368300"/>
          </a:xfrm>
          <a:prstGeom prst="rect">
            <a:avLst/>
          </a:prstGeom>
          <a:noFill/>
        </p:spPr>
        <p:txBody>
          <a:bodyPr wrap="square" rtlCol="0">
            <a:spAutoFit/>
          </a:bodyPr>
          <a:lstStyle/>
          <a:p>
            <a:r>
              <a:rPr lang="en-US" altLang="zh-CN" dirty="0" smtClean="0">
                <a:sym typeface="+mn-ea"/>
              </a:rPr>
              <a:t>4-13</a:t>
            </a:r>
            <a:endParaRPr lang="zh-CN" altLang="en-US" dirty="0"/>
          </a:p>
        </p:txBody>
      </p:sp>
      <p:pic>
        <p:nvPicPr>
          <p:cNvPr id="4" name="图片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1199" y="2011985"/>
            <a:ext cx="5323985" cy="3679532"/>
          </a:xfrm>
          <a:prstGeom prst="rect">
            <a:avLst/>
          </a:prstGeom>
        </p:spPr>
      </p:pic>
      <p:pic>
        <p:nvPicPr>
          <p:cNvPr id="7" name="图片 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75806" y="2011985"/>
            <a:ext cx="5374374" cy="3630590"/>
          </a:xfrm>
          <a:prstGeom prst="rect">
            <a:avLst/>
          </a:prstGeom>
        </p:spPr>
      </p:pic>
    </p:spTree>
    <p:custDataLst>
      <p:tags r:id="rId1"/>
    </p:custDataLst>
    <p:extLst>
      <p:ext uri="{BB962C8B-B14F-4D97-AF65-F5344CB8AC3E}">
        <p14:creationId xmlns:p14="http://schemas.microsoft.com/office/powerpoint/2010/main" val="538261409"/>
      </p:ext>
    </p:extLst>
  </p:cSld>
  <p:clrMapOvr>
    <a:masterClrMapping/>
  </p:clrMapOvr>
  <mc:AlternateContent xmlns:mc="http://schemas.openxmlformats.org/markup-compatibility/2006" xmlns:p14="http://schemas.microsoft.com/office/powerpoint/2010/main">
    <mc:Choice Requires="p14">
      <p:transition spd="med">
        <p:pull/>
      </p:transition>
    </mc:Choice>
    <mc:Fallback xmlns="">
      <p:transition spd="med">
        <p:pull/>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p>
            <a:r>
              <a:rPr lang="zh-CN" altLang="en-US" dirty="0">
                <a:solidFill>
                  <a:schemeClr val="tx1">
                    <a:lumMod val="65000"/>
                    <a:lumOff val="35000"/>
                  </a:schemeClr>
                </a:solidFill>
                <a:sym typeface="+mn-ea"/>
              </a:rPr>
              <a:t>用户</a:t>
            </a:r>
            <a:r>
              <a:rPr lang="zh-CN" altLang="en-US" dirty="0" smtClean="0">
                <a:solidFill>
                  <a:schemeClr val="tx1">
                    <a:lumMod val="65000"/>
                    <a:lumOff val="35000"/>
                  </a:schemeClr>
                </a:solidFill>
                <a:sym typeface="+mn-ea"/>
              </a:rPr>
              <a:t>端</a:t>
            </a:r>
            <a:r>
              <a:rPr lang="zh-CN" altLang="en-US" dirty="0">
                <a:solidFill>
                  <a:schemeClr val="tx1">
                    <a:lumMod val="65000"/>
                    <a:lumOff val="35000"/>
                  </a:schemeClr>
                </a:solidFill>
                <a:sym typeface="+mn-ea"/>
              </a:rPr>
              <a:t>功能</a:t>
            </a:r>
            <a:endParaRPr lang="zh-CN" altLang="en-US" dirty="0">
              <a:solidFill>
                <a:schemeClr val="tx1">
                  <a:lumMod val="65000"/>
                  <a:lumOff val="35000"/>
                </a:schemeClr>
              </a:solidFill>
            </a:endParaRPr>
          </a:p>
        </p:txBody>
      </p:sp>
      <p:sp>
        <p:nvSpPr>
          <p:cNvPr id="3" name="内容占位符 2"/>
          <p:cNvSpPr>
            <a:spLocks noGrp="1"/>
          </p:cNvSpPr>
          <p:nvPr>
            <p:ph idx="1"/>
            <p:custDataLst>
              <p:tags r:id="rId3"/>
            </p:custDataLst>
          </p:nvPr>
        </p:nvSpPr>
        <p:spPr/>
        <p:txBody>
          <a:bodyPr/>
          <a:lstStyle/>
          <a:p>
            <a:pPr marL="0" indent="0">
              <a:buNone/>
            </a:pPr>
            <a:r>
              <a:rPr lang="zh-CN" altLang="en-US" dirty="0" smtClean="0"/>
              <a:t>用户登录（输入帐号密码）如图</a:t>
            </a:r>
            <a:r>
              <a:rPr lang="en-US" altLang="zh-CN" dirty="0" smtClean="0"/>
              <a:t>4-14</a:t>
            </a:r>
            <a:r>
              <a:rPr lang="zh-CN" altLang="en-US" dirty="0" smtClean="0"/>
              <a:t>所示；进入个人中心如图</a:t>
            </a:r>
            <a:r>
              <a:rPr lang="en-US" altLang="zh-CN" dirty="0" smtClean="0"/>
              <a:t>4-15</a:t>
            </a:r>
            <a:r>
              <a:rPr lang="zh-CN" altLang="en-US" dirty="0" smtClean="0"/>
              <a:t>；</a:t>
            </a:r>
            <a:endParaRPr lang="en-US" altLang="zh-CN" dirty="0" smtClean="0"/>
          </a:p>
          <a:p>
            <a:pPr marL="0" indent="0">
              <a:buNone/>
            </a:pPr>
            <a:endParaRPr lang="zh-CN" altLang="en-US" dirty="0"/>
          </a:p>
        </p:txBody>
      </p:sp>
      <p:sp>
        <p:nvSpPr>
          <p:cNvPr id="5" name="文本框 4"/>
          <p:cNvSpPr txBox="1"/>
          <p:nvPr/>
        </p:nvSpPr>
        <p:spPr>
          <a:xfrm>
            <a:off x="2311118" y="5767045"/>
            <a:ext cx="4064000" cy="368300"/>
          </a:xfrm>
          <a:prstGeom prst="rect">
            <a:avLst/>
          </a:prstGeom>
          <a:noFill/>
        </p:spPr>
        <p:txBody>
          <a:bodyPr wrap="square" rtlCol="0">
            <a:spAutoFit/>
          </a:bodyPr>
          <a:lstStyle/>
          <a:p>
            <a:r>
              <a:rPr lang="en-US" altLang="zh-CN" dirty="0" smtClean="0">
                <a:sym typeface="+mn-ea"/>
              </a:rPr>
              <a:t>4-14 </a:t>
            </a:r>
            <a:r>
              <a:rPr lang="zh-CN" altLang="en-US" dirty="0" smtClean="0">
                <a:sym typeface="+mn-ea"/>
              </a:rPr>
              <a:t>登录界面</a:t>
            </a:r>
            <a:endParaRPr lang="zh-CN" altLang="en-US" dirty="0"/>
          </a:p>
        </p:txBody>
      </p:sp>
      <p:sp>
        <p:nvSpPr>
          <p:cNvPr id="8" name="文本框 7"/>
          <p:cNvSpPr txBox="1"/>
          <p:nvPr/>
        </p:nvSpPr>
        <p:spPr>
          <a:xfrm>
            <a:off x="8268335" y="5767045"/>
            <a:ext cx="4064000" cy="368300"/>
          </a:xfrm>
          <a:prstGeom prst="rect">
            <a:avLst/>
          </a:prstGeom>
          <a:noFill/>
        </p:spPr>
        <p:txBody>
          <a:bodyPr wrap="square" rtlCol="0">
            <a:spAutoFit/>
          </a:bodyPr>
          <a:lstStyle/>
          <a:p>
            <a:r>
              <a:rPr lang="en-US" altLang="zh-CN" dirty="0" smtClean="0">
                <a:sym typeface="+mn-ea"/>
              </a:rPr>
              <a:t>4-15 </a:t>
            </a:r>
            <a:r>
              <a:rPr lang="zh-CN" altLang="en-US" dirty="0" smtClean="0">
                <a:sym typeface="+mn-ea"/>
              </a:rPr>
              <a:t>个人中心</a:t>
            </a:r>
            <a:r>
              <a:rPr lang="en-US" altLang="zh-CN" dirty="0" smtClean="0">
                <a:sym typeface="+mn-ea"/>
              </a:rPr>
              <a:t>-</a:t>
            </a:r>
            <a:r>
              <a:rPr lang="zh-CN" altLang="en-US" dirty="0" smtClean="0">
                <a:sym typeface="+mn-ea"/>
              </a:rPr>
              <a:t>我的</a:t>
            </a:r>
            <a:endParaRPr lang="zh-CN" altLang="en-US" dirty="0"/>
          </a:p>
        </p:txBody>
      </p:sp>
      <p:pic>
        <p:nvPicPr>
          <p:cNvPr id="6" name="图片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4302" y="2065062"/>
            <a:ext cx="4742097" cy="3701983"/>
          </a:xfrm>
          <a:prstGeom prst="rect">
            <a:avLst/>
          </a:prstGeom>
        </p:spPr>
      </p:pic>
      <p:pic>
        <p:nvPicPr>
          <p:cNvPr id="9" name="图片 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42853" y="2065062"/>
            <a:ext cx="4421453" cy="3657909"/>
          </a:xfrm>
          <a:prstGeom prst="rect">
            <a:avLst/>
          </a:prstGeom>
        </p:spPr>
      </p:pic>
    </p:spTree>
    <p:custDataLst>
      <p:tags r:id="rId1"/>
    </p:custDataLst>
    <p:extLst>
      <p:ext uri="{BB962C8B-B14F-4D97-AF65-F5344CB8AC3E}">
        <p14:creationId xmlns:p14="http://schemas.microsoft.com/office/powerpoint/2010/main" val="582164762"/>
      </p:ext>
    </p:extLst>
  </p:cSld>
  <p:clrMapOvr>
    <a:masterClrMapping/>
  </p:clrMapOvr>
  <mc:AlternateContent xmlns:mc="http://schemas.openxmlformats.org/markup-compatibility/2006" xmlns:p14="http://schemas.microsoft.com/office/powerpoint/2010/main">
    <mc:Choice Requires="p14">
      <p:transition spd="med">
        <p:pull/>
      </p:transition>
    </mc:Choice>
    <mc:Fallback xmlns="">
      <p:transition spd="med">
        <p:pull/>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3"/>
          <p:cNvSpPr>
            <a:spLocks noGrp="1"/>
          </p:cNvSpPr>
          <p:nvPr>
            <p:ph type="title"/>
            <p:custDataLst>
              <p:tags r:id="rId2"/>
            </p:custDataLst>
          </p:nvPr>
        </p:nvSpPr>
        <p:spPr>
          <a:xfrm>
            <a:off x="696000" y="394405"/>
            <a:ext cx="10800000" cy="792000"/>
          </a:xfrm>
        </p:spPr>
        <p:txBody>
          <a:bodyPr wrap="square">
            <a:normAutofit/>
          </a:bodyPr>
          <a:lstStyle/>
          <a:p>
            <a:r>
              <a:rPr lang="zh-CN" altLang="en-US" dirty="0">
                <a:solidFill>
                  <a:schemeClr val="tx1">
                    <a:lumMod val="65000"/>
                    <a:lumOff val="35000"/>
                  </a:schemeClr>
                </a:solidFill>
              </a:rPr>
              <a:t>系统测试与结果</a:t>
            </a:r>
          </a:p>
        </p:txBody>
      </p:sp>
      <p:sp>
        <p:nvSpPr>
          <p:cNvPr id="4" name="矩形 18"/>
          <p:cNvSpPr/>
          <p:nvPr>
            <p:custDataLst>
              <p:tags r:id="rId3"/>
            </p:custDataLst>
          </p:nvPr>
        </p:nvSpPr>
        <p:spPr>
          <a:xfrm>
            <a:off x="695961" y="1402320"/>
            <a:ext cx="5147186" cy="247689"/>
          </a:xfrm>
          <a:prstGeom prst="rect">
            <a:avLst/>
          </a:prstGeom>
          <a:solidFill>
            <a:schemeClr val="accent1">
              <a:lumMod val="40000"/>
              <a:lumOff val="60000"/>
            </a:schemeClr>
          </a:solidFill>
          <a:ln>
            <a:noFill/>
          </a:ln>
          <a:effectLst>
            <a:outerShdw blurRad="254000" dist="101600" dir="2700000" algn="tl" rotWithShape="0">
              <a:schemeClr val="bg1">
                <a:lumMod val="75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tx1"/>
              </a:solidFill>
              <a:sym typeface="+mn-ea"/>
            </a:endParaRPr>
          </a:p>
        </p:txBody>
      </p:sp>
      <p:sp>
        <p:nvSpPr>
          <p:cNvPr id="5" name="矩形 19"/>
          <p:cNvSpPr/>
          <p:nvPr>
            <p:custDataLst>
              <p:tags r:id="rId4"/>
            </p:custDataLst>
          </p:nvPr>
        </p:nvSpPr>
        <p:spPr>
          <a:xfrm>
            <a:off x="695961" y="1536305"/>
            <a:ext cx="5147186" cy="4624217"/>
          </a:xfrm>
          <a:prstGeom prst="rect">
            <a:avLst/>
          </a:prstGeom>
          <a:solidFill>
            <a:srgbClr val="FFFFFF"/>
          </a:solidFill>
          <a:ln>
            <a:noFill/>
          </a:ln>
          <a:effectLst>
            <a:outerShdw blurRad="254000" dist="101600" dir="2700000" algn="tl" rotWithShape="0">
              <a:schemeClr val="tx1">
                <a:lumMod val="75000"/>
                <a:lumOff val="2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11" name="矩形 1"/>
          <p:cNvSpPr/>
          <p:nvPr>
            <p:custDataLst>
              <p:tags r:id="rId5"/>
            </p:custDataLst>
          </p:nvPr>
        </p:nvSpPr>
        <p:spPr>
          <a:xfrm>
            <a:off x="1176021" y="2462770"/>
            <a:ext cx="4187342" cy="3483789"/>
          </a:xfrm>
          <a:prstGeom prst="rect">
            <a:avLst/>
          </a:prstGeom>
          <a:noFill/>
        </p:spPr>
        <p:txBody>
          <a:bodyPr wrap="square" lIns="0" tIns="0" rIns="0" bIns="0" rtlCol="0" anchor="t" anchorCtr="0">
            <a:noAutofit/>
          </a:bodyPr>
          <a:lstStyle/>
          <a:p>
            <a:pPr>
              <a:lnSpc>
                <a:spcPct val="150000"/>
              </a:lnSpc>
              <a:spcBef>
                <a:spcPct val="0"/>
              </a:spcBef>
              <a:spcAft>
                <a:spcPct val="0"/>
              </a:spcAft>
            </a:pPr>
            <a:r>
              <a:rPr lang="en-US" altLang="en-US" dirty="0" smtClean="0">
                <a:solidFill>
                  <a:schemeClr val="tx1">
                    <a:lumMod val="65000"/>
                    <a:lumOff val="35000"/>
                  </a:schemeClr>
                </a:solidFill>
                <a:latin typeface="+mn-ea"/>
                <a:cs typeface="+mn-ea"/>
                <a:sym typeface="+mn-ea"/>
              </a:rPr>
              <a:t>1.</a:t>
            </a:r>
            <a:r>
              <a:rPr lang="zh-CN" altLang="en-US" dirty="0" smtClean="0">
                <a:solidFill>
                  <a:schemeClr val="tx1">
                    <a:lumMod val="65000"/>
                    <a:lumOff val="35000"/>
                  </a:schemeClr>
                </a:solidFill>
                <a:latin typeface="+mn-ea"/>
                <a:cs typeface="+mn-ea"/>
                <a:sym typeface="+mn-ea"/>
              </a:rPr>
              <a:t>测试方法：功能测试（验证角色权限与数据交互）、性能测试（响应速度与兼容性）。</a:t>
            </a:r>
          </a:p>
          <a:p>
            <a:pPr>
              <a:lnSpc>
                <a:spcPct val="150000"/>
              </a:lnSpc>
              <a:spcBef>
                <a:spcPct val="0"/>
              </a:spcBef>
              <a:spcAft>
                <a:spcPct val="0"/>
              </a:spcAft>
            </a:pPr>
            <a:r>
              <a:rPr lang="en-US" altLang="zh-CN" dirty="0" smtClean="0">
                <a:solidFill>
                  <a:schemeClr val="tx1">
                    <a:lumMod val="65000"/>
                    <a:lumOff val="35000"/>
                  </a:schemeClr>
                </a:solidFill>
                <a:latin typeface="+mn-ea"/>
                <a:cs typeface="+mn-ea"/>
                <a:sym typeface="+mn-ea"/>
              </a:rPr>
              <a:t>2.</a:t>
            </a:r>
            <a:r>
              <a:rPr lang="zh-CN" altLang="en-US" dirty="0" smtClean="0">
                <a:solidFill>
                  <a:schemeClr val="tx1">
                    <a:lumMod val="65000"/>
                    <a:lumOff val="35000"/>
                  </a:schemeClr>
                </a:solidFill>
                <a:latin typeface="+mn-ea"/>
                <a:cs typeface="+mn-ea"/>
                <a:sym typeface="+mn-ea"/>
              </a:rPr>
              <a:t>测试环境：</a:t>
            </a:r>
            <a:r>
              <a:rPr lang="en-US" altLang="zh-CN" dirty="0" smtClean="0">
                <a:solidFill>
                  <a:schemeClr val="tx1">
                    <a:lumMod val="65000"/>
                    <a:lumOff val="35000"/>
                  </a:schemeClr>
                </a:solidFill>
                <a:latin typeface="+mn-ea"/>
                <a:cs typeface="+mn-ea"/>
                <a:sym typeface="+mn-ea"/>
              </a:rPr>
              <a:t>Windows 10 </a:t>
            </a:r>
            <a:r>
              <a:rPr lang="zh-CN" altLang="en-US" dirty="0" smtClean="0">
                <a:solidFill>
                  <a:schemeClr val="tx1">
                    <a:lumMod val="65000"/>
                    <a:lumOff val="35000"/>
                  </a:schemeClr>
                </a:solidFill>
                <a:latin typeface="+mn-ea"/>
                <a:cs typeface="+mn-ea"/>
                <a:sym typeface="+mn-ea"/>
              </a:rPr>
              <a:t>系统</a:t>
            </a:r>
            <a:r>
              <a:rPr lang="en-US" altLang="zh-CN" dirty="0" smtClean="0">
                <a:solidFill>
                  <a:schemeClr val="tx1">
                    <a:lumMod val="65000"/>
                    <a:lumOff val="35000"/>
                  </a:schemeClr>
                </a:solidFill>
                <a:latin typeface="+mn-ea"/>
                <a:cs typeface="+mn-ea"/>
                <a:sym typeface="+mn-ea"/>
              </a:rPr>
              <a:t> + </a:t>
            </a:r>
            <a:r>
              <a:rPr lang="zh-CN" altLang="en-US" dirty="0" smtClean="0">
                <a:solidFill>
                  <a:schemeClr val="tx1">
                    <a:lumMod val="65000"/>
                    <a:lumOff val="35000"/>
                  </a:schemeClr>
                </a:solidFill>
                <a:latin typeface="+mn-ea"/>
                <a:cs typeface="+mn-ea"/>
                <a:sym typeface="+mn-ea"/>
              </a:rPr>
              <a:t>主流浏览器。</a:t>
            </a:r>
            <a:endParaRPr lang="zh-CN" altLang="en-US" dirty="0">
              <a:solidFill>
                <a:schemeClr val="tx1">
                  <a:lumMod val="65000"/>
                  <a:lumOff val="35000"/>
                </a:schemeClr>
              </a:solidFill>
              <a:latin typeface="+mn-ea"/>
              <a:cs typeface="+mn-ea"/>
              <a:sym typeface="+mn-ea"/>
            </a:endParaRPr>
          </a:p>
        </p:txBody>
      </p:sp>
      <p:sp>
        <p:nvSpPr>
          <p:cNvPr id="12" name="矩形 2"/>
          <p:cNvSpPr/>
          <p:nvPr>
            <p:custDataLst>
              <p:tags r:id="rId6"/>
            </p:custDataLst>
          </p:nvPr>
        </p:nvSpPr>
        <p:spPr>
          <a:xfrm>
            <a:off x="1176021" y="1834120"/>
            <a:ext cx="4187342" cy="467463"/>
          </a:xfrm>
          <a:prstGeom prst="rect">
            <a:avLst/>
          </a:prstGeom>
          <a:noFill/>
        </p:spPr>
        <p:txBody>
          <a:bodyPr wrap="square" lIns="0" tIns="0" rIns="0" bIns="0" rtlCol="0" anchor="b">
            <a:noAutofit/>
          </a:bodyPr>
          <a:lstStyle/>
          <a:p>
            <a:pPr>
              <a:spcBef>
                <a:spcPct val="0"/>
              </a:spcBef>
              <a:spcAft>
                <a:spcPct val="0"/>
              </a:spcAft>
            </a:pPr>
            <a:r>
              <a:rPr lang="zh-CN" altLang="en-US" sz="2400" b="1" dirty="0" smtClean="0">
                <a:solidFill>
                  <a:schemeClr val="accent1">
                    <a:lumMod val="60000"/>
                    <a:lumOff val="40000"/>
                  </a:schemeClr>
                </a:solidFill>
                <a:latin typeface="+mn-ea"/>
                <a:cs typeface="+mn-ea"/>
                <a:sym typeface="+mn-ea"/>
              </a:rPr>
              <a:t>       测试方案及环境测试</a:t>
            </a:r>
            <a:endParaRPr lang="zh-CN" altLang="en-US" sz="2400" b="1" dirty="0">
              <a:solidFill>
                <a:schemeClr val="accent1">
                  <a:lumMod val="60000"/>
                  <a:lumOff val="40000"/>
                </a:schemeClr>
              </a:solidFill>
              <a:latin typeface="+mn-ea"/>
              <a:cs typeface="+mn-ea"/>
              <a:sym typeface="+mn-ea"/>
            </a:endParaRPr>
          </a:p>
        </p:txBody>
      </p:sp>
      <p:sp>
        <p:nvSpPr>
          <p:cNvPr id="15" name="矩形 13"/>
          <p:cNvSpPr/>
          <p:nvPr>
            <p:custDataLst>
              <p:tags r:id="rId7"/>
            </p:custDataLst>
          </p:nvPr>
        </p:nvSpPr>
        <p:spPr>
          <a:xfrm>
            <a:off x="6348731" y="1413115"/>
            <a:ext cx="5147186" cy="247689"/>
          </a:xfrm>
          <a:prstGeom prst="rect">
            <a:avLst/>
          </a:prstGeom>
          <a:solidFill>
            <a:schemeClr val="accent1">
              <a:lumMod val="40000"/>
              <a:lumOff val="60000"/>
            </a:schemeClr>
          </a:solidFill>
          <a:ln>
            <a:noFill/>
          </a:ln>
          <a:effectLst>
            <a:outerShdw blurRad="254000" dist="101600" dir="2700000" algn="tl" rotWithShape="0">
              <a:schemeClr val="bg1">
                <a:lumMod val="75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tx1"/>
              </a:solidFill>
              <a:sym typeface="+mn-ea"/>
            </a:endParaRPr>
          </a:p>
        </p:txBody>
      </p:sp>
      <p:sp>
        <p:nvSpPr>
          <p:cNvPr id="16" name="矩形 14"/>
          <p:cNvSpPr/>
          <p:nvPr>
            <p:custDataLst>
              <p:tags r:id="rId8"/>
            </p:custDataLst>
          </p:nvPr>
        </p:nvSpPr>
        <p:spPr>
          <a:xfrm>
            <a:off x="6348731" y="1547100"/>
            <a:ext cx="5147186" cy="4624217"/>
          </a:xfrm>
          <a:prstGeom prst="rect">
            <a:avLst/>
          </a:prstGeom>
          <a:solidFill>
            <a:srgbClr val="FFFFFF"/>
          </a:solidFill>
          <a:ln>
            <a:noFill/>
          </a:ln>
          <a:effectLst>
            <a:outerShdw blurRad="254000" dist="101600" dir="2700000" algn="tl" rotWithShape="0">
              <a:schemeClr val="tx1">
                <a:lumMod val="75000"/>
                <a:lumOff val="2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17" name="矩形 5"/>
          <p:cNvSpPr/>
          <p:nvPr>
            <p:custDataLst>
              <p:tags r:id="rId9"/>
            </p:custDataLst>
          </p:nvPr>
        </p:nvSpPr>
        <p:spPr>
          <a:xfrm>
            <a:off x="6828791" y="2473565"/>
            <a:ext cx="4187342" cy="3483789"/>
          </a:xfrm>
          <a:prstGeom prst="rect">
            <a:avLst/>
          </a:prstGeom>
          <a:noFill/>
        </p:spPr>
        <p:txBody>
          <a:bodyPr wrap="square" lIns="0" tIns="0" rIns="0" bIns="0" rtlCol="0" anchor="t" anchorCtr="0">
            <a:noAutofit/>
          </a:bodyPr>
          <a:lstStyle/>
          <a:p>
            <a:pPr>
              <a:lnSpc>
                <a:spcPct val="150000"/>
              </a:lnSpc>
              <a:spcBef>
                <a:spcPct val="0"/>
              </a:spcBef>
              <a:spcAft>
                <a:spcPct val="0"/>
              </a:spcAft>
            </a:pPr>
            <a:r>
              <a:rPr lang="en-US" altLang="en-US" dirty="0">
                <a:solidFill>
                  <a:schemeClr val="tx1">
                    <a:lumMod val="65000"/>
                    <a:lumOff val="35000"/>
                  </a:schemeClr>
                </a:solidFill>
                <a:latin typeface="+mn-ea"/>
                <a:cs typeface="+mn-ea"/>
                <a:sym typeface="+mn-ea"/>
              </a:rPr>
              <a:t>1.</a:t>
            </a:r>
            <a:r>
              <a:rPr lang="zh-CN" altLang="en-US" dirty="0">
                <a:solidFill>
                  <a:schemeClr val="tx1">
                    <a:lumMod val="65000"/>
                    <a:lumOff val="35000"/>
                  </a:schemeClr>
                </a:solidFill>
                <a:latin typeface="+mn-ea"/>
                <a:cs typeface="+mn-ea"/>
                <a:sym typeface="+mn-ea"/>
              </a:rPr>
              <a:t>功能达标：所有模块（登录、申请、审核、管理）均正常运行；</a:t>
            </a:r>
            <a:endParaRPr lang="en-US" altLang="zh-CN" dirty="0">
              <a:solidFill>
                <a:schemeClr val="tx1">
                  <a:lumMod val="65000"/>
                  <a:lumOff val="35000"/>
                </a:schemeClr>
              </a:solidFill>
              <a:latin typeface="+mn-ea"/>
              <a:cs typeface="+mn-ea"/>
              <a:sym typeface="+mn-ea"/>
            </a:endParaRPr>
          </a:p>
          <a:p>
            <a:pPr>
              <a:lnSpc>
                <a:spcPct val="150000"/>
              </a:lnSpc>
              <a:spcBef>
                <a:spcPct val="0"/>
              </a:spcBef>
              <a:spcAft>
                <a:spcPct val="0"/>
              </a:spcAft>
            </a:pPr>
            <a:r>
              <a:rPr lang="en-US" altLang="zh-CN" dirty="0">
                <a:solidFill>
                  <a:schemeClr val="tx1">
                    <a:lumMod val="65000"/>
                    <a:lumOff val="35000"/>
                  </a:schemeClr>
                </a:solidFill>
                <a:latin typeface="+mn-ea"/>
                <a:cs typeface="+mn-ea"/>
                <a:sym typeface="+mn-ea"/>
              </a:rPr>
              <a:t>2.</a:t>
            </a:r>
            <a:r>
              <a:rPr lang="zh-CN" altLang="en-US" dirty="0">
                <a:solidFill>
                  <a:schemeClr val="tx1">
                    <a:lumMod val="65000"/>
                    <a:lumOff val="35000"/>
                  </a:schemeClr>
                </a:solidFill>
                <a:latin typeface="+mn-ea"/>
                <a:cs typeface="+mn-ea"/>
                <a:sym typeface="+mn-ea"/>
              </a:rPr>
              <a:t>性能良好：响应时间合理，无卡顿，兼容主流浏览器；</a:t>
            </a:r>
            <a:endParaRPr lang="en-US" altLang="zh-CN" dirty="0">
              <a:solidFill>
                <a:schemeClr val="tx1">
                  <a:lumMod val="65000"/>
                  <a:lumOff val="35000"/>
                </a:schemeClr>
              </a:solidFill>
              <a:latin typeface="+mn-ea"/>
              <a:cs typeface="+mn-ea"/>
              <a:sym typeface="+mn-ea"/>
            </a:endParaRPr>
          </a:p>
          <a:p>
            <a:pPr>
              <a:lnSpc>
                <a:spcPct val="150000"/>
              </a:lnSpc>
              <a:spcBef>
                <a:spcPct val="0"/>
              </a:spcBef>
              <a:spcAft>
                <a:spcPct val="0"/>
              </a:spcAft>
            </a:pPr>
            <a:r>
              <a:rPr lang="en-US" altLang="zh-CN" dirty="0">
                <a:solidFill>
                  <a:schemeClr val="tx1">
                    <a:lumMod val="65000"/>
                    <a:lumOff val="35000"/>
                  </a:schemeClr>
                </a:solidFill>
                <a:latin typeface="+mn-ea"/>
                <a:cs typeface="+mn-ea"/>
                <a:sym typeface="+mn-ea"/>
              </a:rPr>
              <a:t>3.</a:t>
            </a:r>
            <a:r>
              <a:rPr lang="zh-CN" altLang="en-US" dirty="0">
                <a:solidFill>
                  <a:schemeClr val="tx1">
                    <a:lumMod val="65000"/>
                    <a:lumOff val="35000"/>
                  </a:schemeClr>
                </a:solidFill>
                <a:latin typeface="+mn-ea"/>
                <a:cs typeface="+mn-ea"/>
                <a:sym typeface="+mn-ea"/>
              </a:rPr>
              <a:t>稳定性高：模块通信正常，错误率低，通过测试可上线。</a:t>
            </a:r>
          </a:p>
        </p:txBody>
      </p:sp>
      <p:sp>
        <p:nvSpPr>
          <p:cNvPr id="22" name="矩形 6"/>
          <p:cNvSpPr/>
          <p:nvPr>
            <p:custDataLst>
              <p:tags r:id="rId10"/>
            </p:custDataLst>
          </p:nvPr>
        </p:nvSpPr>
        <p:spPr>
          <a:xfrm>
            <a:off x="6828791" y="1844915"/>
            <a:ext cx="4187342" cy="467463"/>
          </a:xfrm>
          <a:prstGeom prst="rect">
            <a:avLst/>
          </a:prstGeom>
          <a:noFill/>
        </p:spPr>
        <p:txBody>
          <a:bodyPr wrap="square" lIns="0" tIns="0" rIns="0" bIns="0" rtlCol="0" anchor="b">
            <a:noAutofit/>
          </a:bodyPr>
          <a:lstStyle/>
          <a:p>
            <a:pPr>
              <a:spcBef>
                <a:spcPct val="0"/>
              </a:spcBef>
              <a:spcAft>
                <a:spcPct val="0"/>
              </a:spcAft>
            </a:pPr>
            <a:r>
              <a:rPr lang="zh-CN" altLang="en-US" sz="2400" b="1" dirty="0" smtClean="0">
                <a:solidFill>
                  <a:schemeClr val="accent1">
                    <a:lumMod val="60000"/>
                    <a:lumOff val="40000"/>
                  </a:schemeClr>
                </a:solidFill>
                <a:latin typeface="+mn-ea"/>
                <a:cs typeface="+mn-ea"/>
                <a:sym typeface="+mn-ea"/>
              </a:rPr>
              <a:t>        测试结果及收获</a:t>
            </a:r>
            <a:endParaRPr lang="zh-CN" altLang="en-US" sz="2400" b="1" dirty="0">
              <a:solidFill>
                <a:schemeClr val="accent1">
                  <a:lumMod val="60000"/>
                  <a:lumOff val="40000"/>
                </a:schemeClr>
              </a:solidFill>
              <a:latin typeface="+mn-ea"/>
              <a:cs typeface="+mn-ea"/>
              <a:sym typeface="+mn-ea"/>
            </a:endParaRPr>
          </a:p>
        </p:txBody>
      </p:sp>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3"/>
          <p:cNvSpPr>
            <a:spLocks noGrp="1"/>
          </p:cNvSpPr>
          <p:nvPr>
            <p:ph type="title"/>
            <p:custDataLst>
              <p:tags r:id="rId2"/>
            </p:custDataLst>
          </p:nvPr>
        </p:nvSpPr>
        <p:spPr>
          <a:xfrm>
            <a:off x="696000" y="394405"/>
            <a:ext cx="10800000" cy="792000"/>
          </a:xfrm>
        </p:spPr>
        <p:txBody>
          <a:bodyPr wrap="square">
            <a:normAutofit/>
          </a:bodyPr>
          <a:lstStyle/>
          <a:p>
            <a:r>
              <a:rPr lang="zh-CN" altLang="en-US" dirty="0">
                <a:solidFill>
                  <a:schemeClr val="tx1">
                    <a:lumMod val="50000"/>
                    <a:lumOff val="50000"/>
                  </a:schemeClr>
                </a:solidFill>
              </a:rPr>
              <a:t>系统测试与结果</a:t>
            </a:r>
          </a:p>
        </p:txBody>
      </p:sp>
      <p:sp>
        <p:nvSpPr>
          <p:cNvPr id="4" name="矩形 18"/>
          <p:cNvSpPr/>
          <p:nvPr>
            <p:custDataLst>
              <p:tags r:id="rId3"/>
            </p:custDataLst>
          </p:nvPr>
        </p:nvSpPr>
        <p:spPr>
          <a:xfrm>
            <a:off x="695961" y="1413115"/>
            <a:ext cx="5232960" cy="236894"/>
          </a:xfrm>
          <a:prstGeom prst="rect">
            <a:avLst/>
          </a:prstGeom>
          <a:solidFill>
            <a:schemeClr val="accent1">
              <a:lumMod val="40000"/>
              <a:lumOff val="60000"/>
            </a:schemeClr>
          </a:solidFill>
          <a:ln>
            <a:noFill/>
          </a:ln>
          <a:effectLst>
            <a:outerShdw blurRad="254000" dist="101600" dir="2700000" algn="tl" rotWithShape="0">
              <a:schemeClr val="bg1">
                <a:lumMod val="75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tx1"/>
              </a:solidFill>
              <a:sym typeface="+mn-ea"/>
            </a:endParaRPr>
          </a:p>
        </p:txBody>
      </p:sp>
      <p:sp>
        <p:nvSpPr>
          <p:cNvPr id="5" name="矩形 19"/>
          <p:cNvSpPr/>
          <p:nvPr>
            <p:custDataLst>
              <p:tags r:id="rId4"/>
            </p:custDataLst>
          </p:nvPr>
        </p:nvSpPr>
        <p:spPr>
          <a:xfrm>
            <a:off x="695961" y="1536305"/>
            <a:ext cx="5232960" cy="5045470"/>
          </a:xfrm>
          <a:prstGeom prst="rect">
            <a:avLst/>
          </a:prstGeom>
          <a:solidFill>
            <a:srgbClr val="FFFFFF"/>
          </a:solidFill>
          <a:ln>
            <a:noFill/>
          </a:ln>
          <a:effectLst>
            <a:outerShdw blurRad="254000" dist="101600" dir="2700000" algn="tl" rotWithShape="0">
              <a:schemeClr val="tx1">
                <a:lumMod val="75000"/>
                <a:lumOff val="2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11" name="矩形 1"/>
          <p:cNvSpPr/>
          <p:nvPr>
            <p:custDataLst>
              <p:tags r:id="rId5"/>
            </p:custDataLst>
          </p:nvPr>
        </p:nvSpPr>
        <p:spPr>
          <a:xfrm>
            <a:off x="1176021" y="2462770"/>
            <a:ext cx="4187342" cy="3483789"/>
          </a:xfrm>
          <a:prstGeom prst="rect">
            <a:avLst/>
          </a:prstGeom>
          <a:noFill/>
        </p:spPr>
        <p:txBody>
          <a:bodyPr wrap="square" lIns="0" tIns="0" rIns="0" bIns="0" rtlCol="0" anchor="t" anchorCtr="0">
            <a:noAutofit/>
          </a:bodyPr>
          <a:lstStyle/>
          <a:p>
            <a:pPr>
              <a:lnSpc>
                <a:spcPct val="150000"/>
              </a:lnSpc>
              <a:spcBef>
                <a:spcPct val="0"/>
              </a:spcBef>
              <a:spcAft>
                <a:spcPct val="0"/>
              </a:spcAft>
            </a:pPr>
            <a:endParaRPr lang="zh-CN" altLang="en-US" dirty="0">
              <a:solidFill>
                <a:srgbClr val="333333"/>
              </a:solidFill>
              <a:latin typeface="+mn-ea"/>
              <a:cs typeface="+mn-ea"/>
              <a:sym typeface="+mn-ea"/>
            </a:endParaRPr>
          </a:p>
        </p:txBody>
      </p:sp>
      <p:sp>
        <p:nvSpPr>
          <p:cNvPr id="12" name="矩形 2"/>
          <p:cNvSpPr/>
          <p:nvPr>
            <p:custDataLst>
              <p:tags r:id="rId6"/>
            </p:custDataLst>
          </p:nvPr>
        </p:nvSpPr>
        <p:spPr>
          <a:xfrm>
            <a:off x="1176021" y="1834120"/>
            <a:ext cx="4187342" cy="467463"/>
          </a:xfrm>
          <a:prstGeom prst="rect">
            <a:avLst/>
          </a:prstGeom>
          <a:noFill/>
        </p:spPr>
        <p:txBody>
          <a:bodyPr wrap="square" lIns="0" tIns="0" rIns="0" bIns="0" rtlCol="0" anchor="b">
            <a:noAutofit/>
          </a:bodyPr>
          <a:lstStyle/>
          <a:p>
            <a:pPr>
              <a:spcBef>
                <a:spcPct val="0"/>
              </a:spcBef>
              <a:spcAft>
                <a:spcPct val="0"/>
              </a:spcAft>
            </a:pPr>
            <a:r>
              <a:rPr lang="zh-CN" altLang="en-US" sz="2400" b="1" dirty="0" smtClean="0">
                <a:solidFill>
                  <a:schemeClr val="accent1">
                    <a:lumMod val="60000"/>
                    <a:lumOff val="40000"/>
                  </a:schemeClr>
                </a:solidFill>
                <a:latin typeface="+mn-ea"/>
                <a:cs typeface="+mn-ea"/>
                <a:sym typeface="+mn-ea"/>
              </a:rPr>
              <a:t>          测试方案及内容</a:t>
            </a:r>
            <a:endParaRPr lang="zh-CN" altLang="en-US" sz="2400" b="1" dirty="0">
              <a:solidFill>
                <a:schemeClr val="accent1">
                  <a:lumMod val="60000"/>
                  <a:lumOff val="40000"/>
                </a:schemeClr>
              </a:solidFill>
              <a:latin typeface="+mn-ea"/>
              <a:cs typeface="+mn-ea"/>
              <a:sym typeface="+mn-ea"/>
            </a:endParaRPr>
          </a:p>
        </p:txBody>
      </p:sp>
      <p:sp>
        <p:nvSpPr>
          <p:cNvPr id="15" name="矩形 13"/>
          <p:cNvSpPr/>
          <p:nvPr>
            <p:custDataLst>
              <p:tags r:id="rId7"/>
            </p:custDataLst>
          </p:nvPr>
        </p:nvSpPr>
        <p:spPr>
          <a:xfrm>
            <a:off x="6348731" y="1413115"/>
            <a:ext cx="5147186" cy="247689"/>
          </a:xfrm>
          <a:prstGeom prst="rect">
            <a:avLst/>
          </a:prstGeom>
          <a:solidFill>
            <a:schemeClr val="accent1">
              <a:lumMod val="40000"/>
              <a:lumOff val="60000"/>
            </a:schemeClr>
          </a:solidFill>
          <a:ln>
            <a:noFill/>
          </a:ln>
          <a:effectLst>
            <a:outerShdw blurRad="254000" dist="101600" dir="2700000" algn="tl" rotWithShape="0">
              <a:schemeClr val="bg1">
                <a:lumMod val="75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tx1"/>
              </a:solidFill>
              <a:sym typeface="+mn-ea"/>
            </a:endParaRPr>
          </a:p>
        </p:txBody>
      </p:sp>
      <p:sp>
        <p:nvSpPr>
          <p:cNvPr id="16" name="矩形 14"/>
          <p:cNvSpPr/>
          <p:nvPr>
            <p:custDataLst>
              <p:tags r:id="rId8"/>
            </p:custDataLst>
          </p:nvPr>
        </p:nvSpPr>
        <p:spPr>
          <a:xfrm>
            <a:off x="6348731" y="1547100"/>
            <a:ext cx="5147186" cy="4624217"/>
          </a:xfrm>
          <a:prstGeom prst="rect">
            <a:avLst/>
          </a:prstGeom>
          <a:solidFill>
            <a:srgbClr val="FFFFFF"/>
          </a:solidFill>
          <a:ln>
            <a:noFill/>
          </a:ln>
          <a:effectLst>
            <a:outerShdw blurRad="254000" dist="101600" dir="2700000" algn="tl" rotWithShape="0">
              <a:schemeClr val="tx1">
                <a:lumMod val="75000"/>
                <a:lumOff val="2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17" name="矩形 5"/>
          <p:cNvSpPr/>
          <p:nvPr>
            <p:custDataLst>
              <p:tags r:id="rId9"/>
            </p:custDataLst>
          </p:nvPr>
        </p:nvSpPr>
        <p:spPr>
          <a:xfrm>
            <a:off x="6828791" y="2473565"/>
            <a:ext cx="4187342" cy="3483789"/>
          </a:xfrm>
          <a:prstGeom prst="rect">
            <a:avLst/>
          </a:prstGeom>
          <a:noFill/>
        </p:spPr>
        <p:txBody>
          <a:bodyPr wrap="square" lIns="0" tIns="0" rIns="0" bIns="0" rtlCol="0" anchor="t" anchorCtr="0">
            <a:noAutofit/>
          </a:bodyPr>
          <a:lstStyle/>
          <a:p>
            <a:pPr>
              <a:lnSpc>
                <a:spcPct val="150000"/>
              </a:lnSpc>
              <a:spcBef>
                <a:spcPct val="0"/>
              </a:spcBef>
              <a:spcAft>
                <a:spcPct val="0"/>
              </a:spcAft>
            </a:pPr>
            <a:endParaRPr lang="zh-CN" altLang="en-US" dirty="0">
              <a:solidFill>
                <a:srgbClr val="333333"/>
              </a:solidFill>
              <a:latin typeface="+mn-ea"/>
              <a:cs typeface="+mn-ea"/>
              <a:sym typeface="+mn-ea"/>
            </a:endParaRPr>
          </a:p>
        </p:txBody>
      </p:sp>
      <p:sp>
        <p:nvSpPr>
          <p:cNvPr id="22" name="矩形 6"/>
          <p:cNvSpPr/>
          <p:nvPr>
            <p:custDataLst>
              <p:tags r:id="rId10"/>
            </p:custDataLst>
          </p:nvPr>
        </p:nvSpPr>
        <p:spPr>
          <a:xfrm>
            <a:off x="6828791" y="1844915"/>
            <a:ext cx="4187342" cy="467463"/>
          </a:xfrm>
          <a:prstGeom prst="rect">
            <a:avLst/>
          </a:prstGeom>
          <a:noFill/>
        </p:spPr>
        <p:txBody>
          <a:bodyPr wrap="square" lIns="0" tIns="0" rIns="0" bIns="0" rtlCol="0" anchor="b">
            <a:noAutofit/>
          </a:bodyPr>
          <a:lstStyle/>
          <a:p>
            <a:pPr>
              <a:spcBef>
                <a:spcPct val="0"/>
              </a:spcBef>
              <a:spcAft>
                <a:spcPct val="0"/>
              </a:spcAft>
            </a:pPr>
            <a:r>
              <a:rPr lang="zh-CN" altLang="en-US" sz="2400" b="1" dirty="0" smtClean="0">
                <a:solidFill>
                  <a:schemeClr val="accent1">
                    <a:lumMod val="60000"/>
                    <a:lumOff val="40000"/>
                  </a:schemeClr>
                </a:solidFill>
                <a:latin typeface="+mn-ea"/>
                <a:cs typeface="+mn-ea"/>
                <a:sym typeface="+mn-ea"/>
              </a:rPr>
              <a:t>       测试结果，如图所示</a:t>
            </a:r>
            <a:endParaRPr lang="zh-CN" altLang="en-US" sz="2400" b="1" dirty="0">
              <a:solidFill>
                <a:schemeClr val="accent1">
                  <a:lumMod val="60000"/>
                  <a:lumOff val="40000"/>
                </a:schemeClr>
              </a:solidFill>
              <a:latin typeface="+mn-ea"/>
              <a:cs typeface="+mn-ea"/>
              <a:sym typeface="+mn-ea"/>
            </a:endParaRPr>
          </a:p>
        </p:txBody>
      </p:sp>
      <p:pic>
        <p:nvPicPr>
          <p:cNvPr id="2" name="图片 1"/>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408705" y="2462770"/>
            <a:ext cx="5087212" cy="4208697"/>
          </a:xfrm>
          <a:prstGeom prst="rect">
            <a:avLst/>
          </a:prstGeom>
        </p:spPr>
      </p:pic>
      <p:pic>
        <p:nvPicPr>
          <p:cNvPr id="3" name="图片 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176021" y="2387308"/>
            <a:ext cx="3812492" cy="4127792"/>
          </a:xfrm>
          <a:prstGeom prst="rect">
            <a:avLst/>
          </a:prstGeom>
        </p:spPr>
      </p:pic>
    </p:spTree>
    <p:custDataLst>
      <p:tags r:id="rId1"/>
    </p:custDataLst>
    <p:extLst>
      <p:ext uri="{BB962C8B-B14F-4D97-AF65-F5344CB8AC3E}">
        <p14:creationId xmlns:p14="http://schemas.microsoft.com/office/powerpoint/2010/main" val="852032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2"/>
            </p:custDataLst>
          </p:nvPr>
        </p:nvSpPr>
        <p:spPr/>
        <p:txBody>
          <a:bodyPr/>
          <a:lstStyle/>
          <a:p>
            <a:r>
              <a:rPr lang="zh-CN" altLang="en-US" dirty="0" smtClean="0">
                <a:solidFill>
                  <a:schemeClr val="tx1">
                    <a:lumMod val="50000"/>
                    <a:lumOff val="50000"/>
                  </a:schemeClr>
                </a:solidFill>
              </a:rPr>
              <a:t>结论</a:t>
            </a:r>
            <a:r>
              <a:rPr lang="zh-CN" altLang="en-US" dirty="0" smtClean="0">
                <a:solidFill>
                  <a:schemeClr val="tx1">
                    <a:lumMod val="50000"/>
                    <a:lumOff val="50000"/>
                  </a:schemeClr>
                </a:solidFill>
              </a:rPr>
              <a:t>及</a:t>
            </a:r>
            <a:r>
              <a:rPr lang="zh-CN" altLang="en-US" dirty="0">
                <a:solidFill>
                  <a:schemeClr val="tx1">
                    <a:lumMod val="50000"/>
                    <a:lumOff val="50000"/>
                  </a:schemeClr>
                </a:solidFill>
              </a:rPr>
              <a:t>收获</a:t>
            </a:r>
            <a:endParaRPr lang="zh-CN" altLang="en-US" dirty="0">
              <a:solidFill>
                <a:schemeClr val="tx1">
                  <a:lumMod val="50000"/>
                  <a:lumOff val="50000"/>
                </a:schemeClr>
              </a:solidFill>
            </a:endParaRPr>
          </a:p>
        </p:txBody>
      </p:sp>
      <p:sp>
        <p:nvSpPr>
          <p:cNvPr id="4" name="圆角矩形 3"/>
          <p:cNvSpPr/>
          <p:nvPr>
            <p:custDataLst>
              <p:tags r:id="rId3"/>
            </p:custDataLst>
          </p:nvPr>
        </p:nvSpPr>
        <p:spPr>
          <a:xfrm>
            <a:off x="285750" y="1506996"/>
            <a:ext cx="11296650" cy="4836654"/>
          </a:xfrm>
          <a:prstGeom prst="roundRect">
            <a:avLst>
              <a:gd name="adj" fmla="val 50000"/>
            </a:avLst>
          </a:prstGeom>
          <a:solidFill>
            <a:schemeClr val="tx2">
              <a:lumMod val="60000"/>
              <a:lumOff val="40000"/>
              <a:alpha val="25000"/>
            </a:schemeClr>
          </a:solidFill>
          <a:ln w="25400">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sp>
        <p:nvSpPr>
          <p:cNvPr id="5" name="矩形 4"/>
          <p:cNvSpPr/>
          <p:nvPr>
            <p:custDataLst>
              <p:tags r:id="rId4"/>
            </p:custDataLst>
          </p:nvPr>
        </p:nvSpPr>
        <p:spPr>
          <a:xfrm>
            <a:off x="1246463" y="1983806"/>
            <a:ext cx="9508575" cy="4014377"/>
          </a:xfrm>
          <a:prstGeom prst="rect">
            <a:avLst/>
          </a:prstGeom>
          <a:noFill/>
        </p:spPr>
        <p:txBody>
          <a:bodyPr wrap="square" lIns="0" tIns="0" rIns="0" bIns="0" rtlCol="0" anchor="t" anchorCtr="0">
            <a:noAutofit/>
          </a:bodyPr>
          <a:lstStyle/>
          <a:p>
            <a:pPr indent="0" algn="just" fontAlgn="auto">
              <a:lnSpc>
                <a:spcPct val="140000"/>
              </a:lnSpc>
              <a:spcBef>
                <a:spcPct val="0"/>
              </a:spcBef>
              <a:spcAft>
                <a:spcPct val="0"/>
              </a:spcAft>
            </a:pPr>
            <a:r>
              <a:rPr lang="zh-CN" altLang="en-US" dirty="0" smtClean="0">
                <a:solidFill>
                  <a:schemeClr val="tx1">
                    <a:lumMod val="50000"/>
                    <a:lumOff val="50000"/>
                  </a:schemeClr>
                </a:solidFill>
              </a:rPr>
              <a:t>在</a:t>
            </a:r>
            <a:r>
              <a:rPr lang="zh-CN" altLang="en-US" dirty="0">
                <a:solidFill>
                  <a:schemeClr val="tx1">
                    <a:lumMod val="50000"/>
                    <a:lumOff val="50000"/>
                  </a:schemeClr>
                </a:solidFill>
              </a:rPr>
              <a:t>设计之初，由于缺乏经验，设计并不完美。系统设计存在漏洞</a:t>
            </a:r>
            <a:r>
              <a:rPr lang="en-US" altLang="zh-CN" dirty="0">
                <a:solidFill>
                  <a:schemeClr val="tx1">
                    <a:lumMod val="50000"/>
                    <a:lumOff val="50000"/>
                  </a:schemeClr>
                </a:solidFill>
              </a:rPr>
              <a:t>,</a:t>
            </a:r>
            <a:r>
              <a:rPr lang="zh-CN" altLang="en-US" dirty="0">
                <a:solidFill>
                  <a:schemeClr val="tx1">
                    <a:lumMod val="50000"/>
                    <a:lumOff val="50000"/>
                  </a:schemeClr>
                </a:solidFill>
              </a:rPr>
              <a:t>功能设计不能完全满足用户的需求。在后期阶段，系统会反复测试和修改。在使用中出现问题及时修改，系统逐步完善。在系统测试中，对系统的各种功能进行了全面测试</a:t>
            </a:r>
            <a:r>
              <a:rPr lang="en-US" altLang="zh-CN" dirty="0">
                <a:solidFill>
                  <a:schemeClr val="tx1">
                    <a:lumMod val="50000"/>
                    <a:lumOff val="50000"/>
                  </a:schemeClr>
                </a:solidFill>
              </a:rPr>
              <a:t>,</a:t>
            </a:r>
            <a:r>
              <a:rPr lang="zh-CN" altLang="en-US" dirty="0">
                <a:solidFill>
                  <a:schemeClr val="tx1">
                    <a:lumMod val="50000"/>
                    <a:lumOff val="50000"/>
                  </a:schemeClr>
                </a:solidFill>
              </a:rPr>
              <a:t>并详细记录了测试数据，以避免可能影响系统性能的操作缺陷。整个系统基本上已达到稳定运行状态，每个模块相互通信。错误的可能性已大大降低</a:t>
            </a:r>
            <a:r>
              <a:rPr lang="zh-CN" altLang="en-US" dirty="0" smtClean="0">
                <a:solidFill>
                  <a:schemeClr val="tx1">
                    <a:lumMod val="50000"/>
                    <a:lumOff val="50000"/>
                  </a:schemeClr>
                </a:solidFill>
              </a:rPr>
              <a:t>。在</a:t>
            </a:r>
            <a:r>
              <a:rPr lang="zh-CN" altLang="en-US" dirty="0">
                <a:solidFill>
                  <a:schemeClr val="tx1">
                    <a:lumMod val="50000"/>
                    <a:lumOff val="50000"/>
                  </a:schemeClr>
                </a:solidFill>
              </a:rPr>
              <a:t>测试期间测试了系统的所有功能。鉴于大多数错误条件都被考虑在内</a:t>
            </a:r>
            <a:r>
              <a:rPr lang="en-US" altLang="zh-CN" dirty="0">
                <a:solidFill>
                  <a:schemeClr val="tx1">
                    <a:lumMod val="50000"/>
                    <a:lumOff val="50000"/>
                  </a:schemeClr>
                </a:solidFill>
              </a:rPr>
              <a:t>,</a:t>
            </a:r>
            <a:r>
              <a:rPr lang="zh-CN" altLang="en-US" dirty="0">
                <a:solidFill>
                  <a:schemeClr val="tx1">
                    <a:lumMod val="50000"/>
                    <a:lumOff val="50000"/>
                  </a:schemeClr>
                </a:solidFill>
              </a:rPr>
              <a:t>错误消息基本上在单元测试期间得到解决</a:t>
            </a:r>
            <a:r>
              <a:rPr lang="zh-CN" altLang="en-US" dirty="0" smtClean="0">
                <a:solidFill>
                  <a:schemeClr val="tx1">
                    <a:lumMod val="50000"/>
                    <a:lumOff val="50000"/>
                  </a:schemeClr>
                </a:solidFill>
              </a:rPr>
              <a:t>。测试</a:t>
            </a:r>
            <a:r>
              <a:rPr lang="zh-CN" altLang="en-US" dirty="0">
                <a:solidFill>
                  <a:schemeClr val="tx1">
                    <a:lumMod val="50000"/>
                    <a:lumOff val="50000"/>
                  </a:schemeClr>
                </a:solidFill>
              </a:rPr>
              <a:t>后得到的性能和用例</a:t>
            </a:r>
            <a:r>
              <a:rPr lang="en-US" altLang="zh-CN" dirty="0">
                <a:solidFill>
                  <a:schemeClr val="tx1">
                    <a:lumMod val="50000"/>
                    <a:lumOff val="50000"/>
                  </a:schemeClr>
                </a:solidFill>
              </a:rPr>
              <a:t>,</a:t>
            </a:r>
            <a:r>
              <a:rPr lang="zh-CN" altLang="en-US" dirty="0">
                <a:solidFill>
                  <a:schemeClr val="tx1">
                    <a:lumMod val="50000"/>
                    <a:lumOff val="50000"/>
                  </a:schemeClr>
                </a:solidFill>
              </a:rPr>
              <a:t>系统具有足够的正确性、可靠性、稳定性，并且可以对输入数据进行准确的点击操作处理和响应测试用户的体验也得到了很好的反馈和响应时间。合理的范围，可以兼容所有主流浏览器，设计所需的效果</a:t>
            </a:r>
            <a:r>
              <a:rPr lang="zh-CN" altLang="en-US" dirty="0" smtClean="0">
                <a:solidFill>
                  <a:schemeClr val="tx1">
                    <a:lumMod val="50000"/>
                    <a:lumOff val="50000"/>
                  </a:schemeClr>
                </a:solidFill>
              </a:rPr>
              <a:t>。测试</a:t>
            </a:r>
            <a:r>
              <a:rPr lang="zh-CN" altLang="en-US" dirty="0">
                <a:solidFill>
                  <a:schemeClr val="tx1">
                    <a:lumMod val="50000"/>
                    <a:lumOff val="50000"/>
                  </a:schemeClr>
                </a:solidFill>
              </a:rPr>
              <a:t>评估的结果是实验室管理系统满足要求中的所有功能，处理大多数错误条件，修复大多数错误并通过测试。</a:t>
            </a:r>
            <a:endParaRPr lang="zh-CN" altLang="zh-CN" dirty="0">
              <a:solidFill>
                <a:schemeClr val="tx1">
                  <a:lumMod val="50000"/>
                  <a:lumOff val="50000"/>
                </a:schemeClr>
              </a:solidFill>
              <a:latin typeface="+mn-ea"/>
              <a:cs typeface="+mn-ea"/>
            </a:endParaRPr>
          </a:p>
        </p:txBody>
      </p:sp>
      <p:sp>
        <p:nvSpPr>
          <p:cNvPr id="6" name="矩形 5"/>
          <p:cNvSpPr/>
          <p:nvPr>
            <p:custDataLst>
              <p:tags r:id="rId5"/>
            </p:custDataLst>
          </p:nvPr>
        </p:nvSpPr>
        <p:spPr>
          <a:xfrm>
            <a:off x="1341713" y="1815588"/>
            <a:ext cx="9508575" cy="466698"/>
          </a:xfrm>
          <a:prstGeom prst="rect">
            <a:avLst/>
          </a:prstGeom>
          <a:noFill/>
        </p:spPr>
        <p:txBody>
          <a:bodyPr wrap="square" lIns="0" tIns="0" rIns="0" bIns="0" rtlCol="0" anchor="b" anchorCtr="0">
            <a:noAutofit/>
          </a:bodyPr>
          <a:lstStyle/>
          <a:p>
            <a:pPr algn="l">
              <a:spcBef>
                <a:spcPct val="0"/>
              </a:spcBef>
              <a:spcAft>
                <a:spcPct val="0"/>
              </a:spcAft>
            </a:pPr>
            <a:endParaRPr lang="zh-CN" altLang="en-US" sz="2400" b="1" dirty="0">
              <a:solidFill>
                <a:schemeClr val="accent1">
                  <a:lumMod val="60000"/>
                  <a:lumOff val="40000"/>
                </a:schemeClr>
              </a:solidFill>
              <a:latin typeface="+mn-ea"/>
              <a:cs typeface="+mn-ea"/>
            </a:endParaRPr>
          </a:p>
        </p:txBody>
      </p:sp>
      <p:sp>
        <p:nvSpPr>
          <p:cNvPr id="7" name="矩形 6"/>
          <p:cNvSpPr/>
          <p:nvPr>
            <p:custDataLst>
              <p:tags r:id="rId6"/>
            </p:custDataLst>
          </p:nvPr>
        </p:nvSpPr>
        <p:spPr>
          <a:xfrm>
            <a:off x="1341713" y="4879920"/>
            <a:ext cx="9508575" cy="1179127"/>
          </a:xfrm>
          <a:prstGeom prst="rect">
            <a:avLst/>
          </a:prstGeom>
          <a:noFill/>
        </p:spPr>
        <p:txBody>
          <a:bodyPr wrap="square" lIns="0" tIns="0" rIns="0" bIns="0" rtlCol="0" anchor="t" anchorCtr="0">
            <a:noAutofit/>
          </a:bodyPr>
          <a:lstStyle/>
          <a:p>
            <a:pPr indent="0" algn="just" fontAlgn="auto">
              <a:lnSpc>
                <a:spcPct val="140000"/>
              </a:lnSpc>
              <a:spcBef>
                <a:spcPct val="0"/>
              </a:spcBef>
              <a:spcAft>
                <a:spcPct val="0"/>
              </a:spcAft>
            </a:pPr>
            <a:endParaRPr lang="zh-CN" altLang="zh-CN" dirty="0">
              <a:solidFill>
                <a:srgbClr val="FFFFFF"/>
              </a:solidFill>
              <a:latin typeface="+mn-ea"/>
              <a:cs typeface="+mn-ea"/>
            </a:endParaRPr>
          </a:p>
        </p:txBody>
      </p:sp>
      <p:sp>
        <p:nvSpPr>
          <p:cNvPr id="8" name="矩形 7"/>
          <p:cNvSpPr/>
          <p:nvPr>
            <p:custDataLst>
              <p:tags r:id="rId7"/>
            </p:custDataLst>
          </p:nvPr>
        </p:nvSpPr>
        <p:spPr>
          <a:xfrm>
            <a:off x="1341713" y="4366235"/>
            <a:ext cx="9508575" cy="466698"/>
          </a:xfrm>
          <a:prstGeom prst="rect">
            <a:avLst/>
          </a:prstGeom>
          <a:noFill/>
        </p:spPr>
        <p:txBody>
          <a:bodyPr wrap="square" lIns="0" tIns="0" rIns="0" bIns="0" rtlCol="0" anchor="b" anchorCtr="0">
            <a:noAutofit/>
          </a:bodyPr>
          <a:lstStyle/>
          <a:p>
            <a:pPr algn="l">
              <a:spcBef>
                <a:spcPct val="0"/>
              </a:spcBef>
              <a:spcAft>
                <a:spcPct val="0"/>
              </a:spcAft>
            </a:pPr>
            <a:endParaRPr lang="zh-CN" altLang="en-US" sz="2400" b="1" dirty="0">
              <a:solidFill>
                <a:srgbClr val="FFFFFF"/>
              </a:solidFill>
              <a:latin typeface="+mn-ea"/>
              <a:cs typeface="+mn-ea"/>
            </a:endParaRPr>
          </a:p>
        </p:txBody>
      </p:sp>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SLIDE_ID" val="diagram20231870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1870"/>
  <p:tag name="KSO_WM_SLIDE_TYPE" val="text"/>
  <p:tag name="KSO_WM_SLIDE_SUBTYPE" val="diag"/>
  <p:tag name="KSO_WM_SLIDE_SIZE" val="863.95*383.55"/>
  <p:tag name="KSO_WM_SLIDE_POSITION" val="48*118.2"/>
  <p:tag name="KSO_WM_SLIDE_LAYOUT" val="a_l"/>
  <p:tag name="KSO_WM_SLIDE_LAYOUT_CNT" val="1_1"/>
  <p:tag name="KSO_WM_SPECIAL_SOURCE" val="bdnull"/>
  <p:tag name="KSO_WM_DIAGRAM_GROUP_CODE" val="l1-1"/>
  <p:tag name="KSO_WM_SLIDE_DIAGTYPE" val="l"/>
</p:tagLst>
</file>

<file path=ppt/tags/tag7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31870_2*a*1"/>
  <p:tag name="KSO_WM_TEMPLATE_CATEGORY" val="diagram"/>
  <p:tag name="KSO_WM_TEMPLATE_INDEX" val="20231870"/>
  <p:tag name="KSO_WM_UNIT_LAYERLEVEL" val="1"/>
  <p:tag name="KSO_WM_TAG_VERSION" val="3.0"/>
  <p:tag name="KSO_WM_BEAUTIFY_FLAG" val="#wm#"/>
  <p:tag name="KSO_WM_UNIT_TEXT_TYPE" val="1"/>
  <p:tag name="KSO_WM_DIAGRAM_GROUP_CODE" val="l1-1"/>
  <p:tag name="KSO_WM_UNIT_PRESET_TEXT" val="单击此处添加页面标题"/>
  <p:tag name="KSO_WM_UNIT_TEXT_FILL_FORE_SCHEMECOLOR_INDEX" val="13"/>
  <p:tag name="KSO_WM_UNIT_TEXT_FILL_TYPE" val="1"/>
  <p:tag name="KSO_WM_UNIT_USESOURCEFORMAT_APPLY" val="1"/>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870_1*l_h_i*1_1_1"/>
  <p:tag name="KSO_WM_TEMPLATE_CATEGORY" val="diagram"/>
  <p:tag name="KSO_WM_TEMPLATE_INDEX" val="20231870"/>
  <p:tag name="KSO_WM_UNIT_LAYERLEVEL" val="1_1_1"/>
  <p:tag name="KSO_WM_TAG_VERSION" val="3.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6"/>
  <p:tag name="KSO_WM_DIAGRAM_MAX_ITEMCNT" val="4"/>
  <p:tag name="KSO_WM_DIAGRAM_MIN_ITEMCNT" val="2"/>
  <p:tag name="KSO_WM_DIAGRAM_VIRTUALLY_FRAME" val="{&quot;height&quot;:383.50560342017275,&quot;left&quot;:48,&quot;top&quot;:118.22219828991365,&quot;width&quot;:863.95}"/>
  <p:tag name="KSO_WM_DIAGRAM_COLOR_MATCH_VALUE" val="{&quot;shape&quot;:{&quot;fill&quot;:{&quot;solid&quot;:{&quot;brightness&quot;:0.6000000238418579,&quot;colorType&quot;:1,&quot;foreColorIndex&quot;:5,&quot;transparency&quot;:0.7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72.xml><?xml version="1.0" encoding="utf-8"?>
<p:tagLst xmlns:a="http://schemas.openxmlformats.org/drawingml/2006/main" xmlns:r="http://schemas.openxmlformats.org/officeDocument/2006/relationships"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870_1*l_h_f*1_1_1"/>
  <p:tag name="KSO_WM_TEMPLATE_CATEGORY" val="diagram"/>
  <p:tag name="KSO_WM_TEMPLATE_INDEX" val="20231870"/>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简明扼要地阐述观点。根据需要可酌情增减文字，以便观者准确地理解您传达的思想。单击添加文本具体内容，简明扼要地阐述您的内容观点。"/>
  <p:tag name="KSO_WM_UNIT_TEXT_FILL_FORE_SCHEMECOLOR_INDEX" val="1"/>
  <p:tag name="KSO_WM_UNIT_TEXT_FILL_TYPE" val="1"/>
  <p:tag name="KSO_WM_UNIT_TEXT_TYPE" val="1"/>
  <p:tag name="KSO_WM_DIAGRAM_MAX_ITEMCNT" val="4"/>
  <p:tag name="KSO_WM_DIAGRAM_MIN_ITEMCNT" val="2"/>
  <p:tag name="KSO_WM_DIAGRAM_VIRTUALLY_FRAME" val="{&quot;height&quot;:383.50560342017275,&quot;left&quot;:48,&quot;top&quot;:118.22219828991365,&quot;width&quot;:863.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7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870_1*l_h_a*1_1_1"/>
  <p:tag name="KSO_WM_TEMPLATE_CATEGORY" val="diagram"/>
  <p:tag name="KSO_WM_TEMPLATE_INDEX" val="20231870"/>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标题"/>
  <p:tag name="KSO_WM_UNIT_TEXT_FILL_FORE_SCHEMECOLOR_INDEX" val="1"/>
  <p:tag name="KSO_WM_UNIT_TEXT_FILL_TYPE" val="1"/>
  <p:tag name="KSO_WM_UNIT_TEXT_TYPE" val="1"/>
  <p:tag name="KSO_WM_DIAGRAM_MAX_ITEMCNT" val="4"/>
  <p:tag name="KSO_WM_DIAGRAM_MIN_ITEMCNT" val="2"/>
  <p:tag name="KSO_WM_DIAGRAM_VIRTUALLY_FRAME" val="{&quot;height&quot;:383.50560342017275,&quot;left&quot;:48,&quot;top&quot;:118.22219828991365,&quot;width&quot;:863.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870_1*l_h_i*1_2_1"/>
  <p:tag name="KSO_WM_TEMPLATE_CATEGORY" val="diagram"/>
  <p:tag name="KSO_WM_TEMPLATE_INDEX" val="20231870"/>
  <p:tag name="KSO_WM_UNIT_LAYERLEVEL" val="1_1_1"/>
  <p:tag name="KSO_WM_TAG_VERSION" val="3.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4"/>
  <p:tag name="KSO_WM_DIAGRAM_MIN_ITEMCNT" val="2"/>
  <p:tag name="KSO_WM_DIAGRAM_VIRTUALLY_FRAME" val="{&quot;height&quot;:383.50560342017275,&quot;left&quot;:48,&quot;top&quot;:118.22219828991365,&quot;width&quot;:863.9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75.xml><?xml version="1.0" encoding="utf-8"?>
<p:tagLst xmlns:a="http://schemas.openxmlformats.org/drawingml/2006/main" xmlns:r="http://schemas.openxmlformats.org/officeDocument/2006/relationships"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870_1*l_h_f*1_2_1"/>
  <p:tag name="KSO_WM_TEMPLATE_CATEGORY" val="diagram"/>
  <p:tag name="KSO_WM_TEMPLATE_INDEX" val="20231870"/>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简明扼要地阐述您的观点。根据需要可酌情增减文字，以便观者准确地理解您传达的思想。单击此处添加文本具体内容，简明扼要地阐述您的内容观点。"/>
  <p:tag name="KSO_WM_UNIT_TEXT_TYPE" val="1"/>
  <p:tag name="KSO_WM_DIAGRAM_MAX_ITEMCNT" val="4"/>
  <p:tag name="KSO_WM_DIAGRAM_MIN_ITEMCNT" val="2"/>
  <p:tag name="KSO_WM_DIAGRAM_VIRTUALLY_FRAME" val="{&quot;height&quot;:383.50560342017275,&quot;left&quot;:48,&quot;top&quot;:118.22219828991365,&quot;width&quot;:863.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7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870_1*l_h_a*1_2_1"/>
  <p:tag name="KSO_WM_TEMPLATE_CATEGORY" val="diagram"/>
  <p:tag name="KSO_WM_TEMPLATE_INDEX" val="20231870"/>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标题"/>
  <p:tag name="KSO_WM_UNIT_TEXT_TYPE" val="1"/>
  <p:tag name="KSO_WM_DIAGRAM_MAX_ITEMCNT" val="4"/>
  <p:tag name="KSO_WM_DIAGRAM_MIN_ITEMCNT" val="2"/>
  <p:tag name="KSO_WM_DIAGRAM_VIRTUALLY_FRAME" val="{&quot;height&quot;:383.50560342017275,&quot;left&quot;:48,&quot;top&quot;:118.22219828991365,&quot;width&quot;:863.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77.xml><?xml version="1.0" encoding="utf-8"?>
<p:tagLst xmlns:a="http://schemas.openxmlformats.org/drawingml/2006/main" xmlns:r="http://schemas.openxmlformats.org/officeDocument/2006/relationships" xmlns:p="http://schemas.openxmlformats.org/presentationml/2006/main">
  <p:tag name="KSO_WM_SLIDE_ID" val="diagram20231870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1870"/>
  <p:tag name="KSO_WM_SLIDE_TYPE" val="text"/>
  <p:tag name="KSO_WM_SLIDE_SUBTYPE" val="diag"/>
  <p:tag name="KSO_WM_SLIDE_SIZE" val="863.95*383.55"/>
  <p:tag name="KSO_WM_SLIDE_POSITION" val="48*118.2"/>
  <p:tag name="KSO_WM_SLIDE_LAYOUT" val="a_l"/>
  <p:tag name="KSO_WM_SLIDE_LAYOUT_CNT" val="1_1"/>
  <p:tag name="KSO_WM_SPECIAL_SOURCE" val="bdnull"/>
  <p:tag name="KSO_WM_DIAGRAM_GROUP_CODE" val="l1-1"/>
  <p:tag name="KSO_WM_SLIDE_DIAGTYPE" val="l"/>
</p:tagLst>
</file>

<file path=ppt/tags/tag7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31870_2*a*1"/>
  <p:tag name="KSO_WM_TEMPLATE_CATEGORY" val="diagram"/>
  <p:tag name="KSO_WM_TEMPLATE_INDEX" val="20231870"/>
  <p:tag name="KSO_WM_UNIT_LAYERLEVEL" val="1"/>
  <p:tag name="KSO_WM_TAG_VERSION" val="3.0"/>
  <p:tag name="KSO_WM_BEAUTIFY_FLAG" val="#wm#"/>
  <p:tag name="KSO_WM_UNIT_TEXT_TYPE" val="1"/>
  <p:tag name="KSO_WM_DIAGRAM_GROUP_CODE" val="l1-1"/>
  <p:tag name="KSO_WM_UNIT_PRESET_TEXT" val="单击此处添加页面标题"/>
  <p:tag name="KSO_WM_UNIT_TEXT_FILL_FORE_SCHEMECOLOR_INDEX" val="13"/>
  <p:tag name="KSO_WM_UNIT_TEXT_FILL_TYPE" val="1"/>
  <p:tag name="KSO_WM_UNIT_USESOURCEFORMAT_APPLY" val="1"/>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870_1*l_h_i*1_1_1"/>
  <p:tag name="KSO_WM_TEMPLATE_CATEGORY" val="diagram"/>
  <p:tag name="KSO_WM_TEMPLATE_INDEX" val="20231870"/>
  <p:tag name="KSO_WM_UNIT_LAYERLEVEL" val="1_1_1"/>
  <p:tag name="KSO_WM_TAG_VERSION" val="3.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6"/>
  <p:tag name="KSO_WM_DIAGRAM_MAX_ITEMCNT" val="4"/>
  <p:tag name="KSO_WM_DIAGRAM_MIN_ITEMCNT" val="2"/>
  <p:tag name="KSO_WM_DIAGRAM_VIRTUALLY_FRAME" val="{&quot;height&quot;:383.5056034201727,&quot;left&quot;:48,&quot;top&quot;:118.22219828991365,&quot;width&quot;:864}"/>
  <p:tag name="KSO_WM_DIAGRAM_COLOR_MATCH_VALUE" val="{&quot;shape&quot;:{&quot;fill&quot;:{&quot;solid&quot;:{&quot;brightness&quot;:0.6000000238418579,&quot;colorType&quot;:1,&quot;foreColorIndex&quot;:5,&quot;transparency&quot;:0.7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80.xml><?xml version="1.0" encoding="utf-8"?>
<p:tagLst xmlns:a="http://schemas.openxmlformats.org/drawingml/2006/main" xmlns:r="http://schemas.openxmlformats.org/officeDocument/2006/relationships"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870_1*l_h_f*1_1_1"/>
  <p:tag name="KSO_WM_TEMPLATE_CATEGORY" val="diagram"/>
  <p:tag name="KSO_WM_TEMPLATE_INDEX" val="20231870"/>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简明扼要地阐述观点。根据需要可酌情增减文字，以便观者准确地理解您传达的思想。单击添加文本具体内容，简明扼要地阐述您的内容观点。"/>
  <p:tag name="KSO_WM_UNIT_TEXT_FILL_FORE_SCHEMECOLOR_INDEX" val="1"/>
  <p:tag name="KSO_WM_UNIT_TEXT_FILL_TYPE" val="1"/>
  <p:tag name="KSO_WM_UNIT_TEXT_TYPE" val="1"/>
  <p:tag name="KSO_WM_DIAGRAM_MAX_ITEMCNT" val="4"/>
  <p:tag name="KSO_WM_DIAGRAM_MIN_ITEMCNT" val="2"/>
  <p:tag name="KSO_WM_DIAGRAM_VIRTUALLY_FRAME" val="{&quot;height&quot;:383.5056034201727,&quot;left&quot;:48,&quot;top&quot;:118.22219828991365,&quot;width&quot;:86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8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870_1*l_h_a*1_1_1"/>
  <p:tag name="KSO_WM_TEMPLATE_CATEGORY" val="diagram"/>
  <p:tag name="KSO_WM_TEMPLATE_INDEX" val="20231870"/>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标题"/>
  <p:tag name="KSO_WM_UNIT_TEXT_FILL_FORE_SCHEMECOLOR_INDEX" val="1"/>
  <p:tag name="KSO_WM_UNIT_TEXT_FILL_TYPE" val="1"/>
  <p:tag name="KSO_WM_UNIT_TEXT_TYPE" val="1"/>
  <p:tag name="KSO_WM_DIAGRAM_MAX_ITEMCNT" val="4"/>
  <p:tag name="KSO_WM_DIAGRAM_MIN_ITEMCNT" val="2"/>
  <p:tag name="KSO_WM_DIAGRAM_VIRTUALLY_FRAME" val="{&quot;height&quot;:383.5056034201727,&quot;left&quot;:48,&quot;top&quot;:118.22219828991365,&quot;width&quot;:86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870_1*l_h_i*1_2_1"/>
  <p:tag name="KSO_WM_TEMPLATE_CATEGORY" val="diagram"/>
  <p:tag name="KSO_WM_TEMPLATE_INDEX" val="20231870"/>
  <p:tag name="KSO_WM_UNIT_LAYERLEVEL" val="1_1_1"/>
  <p:tag name="KSO_WM_TAG_VERSION" val="3.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4"/>
  <p:tag name="KSO_WM_DIAGRAM_MIN_ITEMCNT" val="2"/>
  <p:tag name="KSO_WM_DIAGRAM_VIRTUALLY_FRAME" val="{&quot;height&quot;:383.5056034201727,&quot;left&quot;:48,&quot;top&quot;:118.22219828991365,&quot;width&quot;:86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83.xml><?xml version="1.0" encoding="utf-8"?>
<p:tagLst xmlns:a="http://schemas.openxmlformats.org/drawingml/2006/main" xmlns:r="http://schemas.openxmlformats.org/officeDocument/2006/relationships"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870_1*l_h_f*1_2_1"/>
  <p:tag name="KSO_WM_TEMPLATE_CATEGORY" val="diagram"/>
  <p:tag name="KSO_WM_TEMPLATE_INDEX" val="20231870"/>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简明扼要地阐述您的观点。根据需要可酌情增减文字，以便观者准确地理解您传达的思想。单击此处添加文本具体内容，简明扼要地阐述您的内容观点。"/>
  <p:tag name="KSO_WM_UNIT_TEXT_TYPE" val="1"/>
  <p:tag name="KSO_WM_DIAGRAM_MAX_ITEMCNT" val="4"/>
  <p:tag name="KSO_WM_DIAGRAM_MIN_ITEMCNT" val="2"/>
  <p:tag name="KSO_WM_DIAGRAM_VIRTUALLY_FRAME" val="{&quot;height&quot;:383.5056034201727,&quot;left&quot;:48,&quot;top&quot;:118.22219828991365,&quot;width&quot;:86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8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870_1*l_h_a*1_2_1"/>
  <p:tag name="KSO_WM_TEMPLATE_CATEGORY" val="diagram"/>
  <p:tag name="KSO_WM_TEMPLATE_INDEX" val="20231870"/>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标题"/>
  <p:tag name="KSO_WM_UNIT_TEXT_TYPE" val="1"/>
  <p:tag name="KSO_WM_DIAGRAM_MAX_ITEMCNT" val="4"/>
  <p:tag name="KSO_WM_DIAGRAM_MIN_ITEMCNT" val="2"/>
  <p:tag name="KSO_WM_DIAGRAM_VIRTUALLY_FRAME" val="{&quot;height&quot;:383.5056034201727,&quot;left&quot;:48,&quot;top&quot;:118.22219828991365,&quot;width&quot;:86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SLIDE_ID" val="diagram20231799_2"/>
  <p:tag name="KSO_WM_TEMPLATE_SUBCATEGORY" val="0"/>
  <p:tag name="KSO_WM_TEMPLATE_MASTER_TYPE" val="0"/>
  <p:tag name="KSO_WM_TEMPLATE_COLOR_TYPE" val="0"/>
  <p:tag name="KSO_WM_SLIDE_ITEM_CNT" val="3"/>
  <p:tag name="KSO_WM_SLIDE_INDEX" val="2"/>
  <p:tag name="KSO_WM_DIAGRAM_GROUP_CODE" val="l1-1"/>
  <p:tag name="KSO_WM_SLIDE_DIAGTYPE" val="l"/>
  <p:tag name="KSO_WM_TAG_VERSION" val="3.0"/>
  <p:tag name="KSO_WM_BEAUTIFY_FLAG" val="#wm#"/>
  <p:tag name="KSO_WM_TEMPLATE_CATEGORY" val="diagram"/>
  <p:tag name="KSO_WM_TEMPLATE_INDEX" val="20231799"/>
  <p:tag name="KSO_WM_SLIDE_LAYOUT" val="a_l"/>
  <p:tag name="KSO_WM_SLIDE_LAYOUT_CNT" val="1_1"/>
  <p:tag name="KSO_WM_SLIDE_TYPE" val="text"/>
  <p:tag name="KSO_WM_SLIDE_SUBTYPE" val="diag"/>
  <p:tag name="KSO_WM_SLIDE_SIZE" val="850.4*374.662"/>
  <p:tag name="KSO_WM_SLIDE_POSITION" val="54.8001*110.838"/>
  <p:tag name="KSO_WM_SPECIAL_SOURCE" val="bdnull"/>
</p:tagLst>
</file>

<file path=ppt/tags/tag10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799_2*a*1"/>
  <p:tag name="KSO_WM_TEMPLATE_CATEGORY" val="diagram"/>
  <p:tag name="KSO_WM_TEMPLATE_INDEX" val="20231799"/>
  <p:tag name="KSO_WM_UNIT_LAYERLEVEL" val="1"/>
  <p:tag name="KSO_WM_TAG_VERSION" val="3.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1_2"/>
  <p:tag name="KSO_WM_UNIT_ID" val="diagram20231799_1*l_h_i*1_1_2"/>
  <p:tag name="KSO_WM_TEMPLATE_CATEGORY" val="diagram"/>
  <p:tag name="KSO_WM_TEMPLATE_INDEX" val="20231799"/>
  <p:tag name="KSO_WM_UNIT_LAYERLEVEL" val="1_1_1"/>
  <p:tag name="KSO_WM_TAG_VERSION" val="3.0"/>
  <p:tag name="KSO_WM_DIAGRAM_GROUP_CODE" val="l1-1"/>
  <p:tag name="KSO_WM_DIAGRAM_VERSION" val="3"/>
  <p:tag name="KSO_WM_DIAGRAM_COLOR_TRICK" val="3"/>
  <p:tag name="KSO_WM_DIAGRAM_COLOR_TEXT_CAN_REMOVE" val="n"/>
  <p:tag name="KSO_WM_DIAGRAM_MAX_ITEMCNT" val="3"/>
  <p:tag name="KSO_WM_DIAGRAM_MIN_ITEMCNT" val="2"/>
  <p:tag name="KSO_WM_DIAGRAM_VIRTUALLY_FRAME" val="{&quot;height&quot;:375.51040284631637,&quot;left&quot;:54.80007874015746,&quot;top&quot;:110.41369621463704,&quot;width&quot;:850.4}"/>
  <p:tag name="KSO_WM_DIAGRAM_COLOR_MATCH_VALUE" val="{&quot;shape&quot;:{&quot;fill&quot;:{&quot;solid&quot;:{&quot;brightness&quot;:0,&quot;colorType&quot;:1,&quot;foreColorIndex&quot;:5,&quot;transparency&quot;:0},&quot;type&quot;:1},&quot;glow&quot;:{&quot;colorType&quot;:0},&quot;line&quot;:{&quot;type&quot;:0},&quot;shadow&quot;:{&quot;brightness&quot;:-0.25,&quot;colorType&quot;:1,&quot;foreColorIndex&quot;:14,&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SHADOW_SCHEMECOLOR_INDEX" val="14"/>
  <p:tag name="KSO_WM_UNIT_TEXT_FILL_FORE_SCHEMECOLOR_INDEX" val="13"/>
  <p:tag name="KSO_WM_UNIT_TEXT_FILL_TYPE" val="1"/>
  <p:tag name="KSO_WM_UNIT_USESOURCEFORMAT_APPLY" val="1"/>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1_1"/>
  <p:tag name="KSO_WM_UNIT_ID" val="diagram20231799_1*l_h_i*1_1_1"/>
  <p:tag name="KSO_WM_TEMPLATE_CATEGORY" val="diagram"/>
  <p:tag name="KSO_WM_TEMPLATE_INDEX" val="20231799"/>
  <p:tag name="KSO_WM_UNIT_LAYERLEVEL" val="1_1_1"/>
  <p:tag name="KSO_WM_TAG_VERSION" val="3.0"/>
  <p:tag name="KSO_WM_DIAGRAM_GROUP_CODE" val="l1-1"/>
  <p:tag name="KSO_WM_DIAGRAM_VERSION" val="3"/>
  <p:tag name="KSO_WM_DIAGRAM_COLOR_TRICK" val="3"/>
  <p:tag name="KSO_WM_DIAGRAM_COLOR_TEXT_CAN_REMOVE" val="n"/>
  <p:tag name="KSO_WM_DIAGRAM_MAX_ITEMCNT" val="3"/>
  <p:tag name="KSO_WM_DIAGRAM_MIN_ITEMCNT" val="2"/>
  <p:tag name="KSO_WM_DIAGRAM_VIRTUALLY_FRAME" val="{&quot;height&quot;:375.51040284631637,&quot;left&quot;:54.80007874015746,&quot;top&quot;:110.41369621463704,&quot;width&quot;:850.4}"/>
  <p:tag name="KSO_WM_DIAGRAM_COLOR_MATCH_VALUE" val="{&quot;shape&quot;:{&quot;fill&quot;:{&quot;solid&quot;:{&quot;brightness&quot;:0,&quot;colorType&quot;:2,&quot;rgb&quot;:&quot;#ffffff&quot;,&quot;transparency&quot;:0},&quot;type&quot;:1},&quot;glow&quot;:{&quot;colorType&quot;:0},&quot;line&quot;:{&quot;type&quot;:0},&quot;shadow&quot;:{&quot;brightness&quot;:0.25,&quot;colorType&quot;:1,&quot;foreColorIndex&quot;:13,&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13"/>
  <p:tag name="KSO_WM_UNIT_TEXT_FILL_FORE_SCHEMECOLOR_INDEX" val="2"/>
  <p:tag name="KSO_WM_UNIT_TEXT_FILL_TYPE" val="1"/>
  <p:tag name="KSO_WM_UNIT_USESOURCEFORMAT_APPLY" val="1"/>
</p:tagLst>
</file>

<file path=ppt/tags/tag110.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799_1*l_h_f*1_1_1"/>
  <p:tag name="KSO_WM_TEMPLATE_CATEGORY" val="diagram"/>
  <p:tag name="KSO_WM_TEMPLATE_INDEX" val="20231799"/>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3"/>
  <p:tag name="KSO_WM_DIAGRAM_COLOR_TEXT_CAN_REMOVE" val="n"/>
  <p:tag name="KSO_WM_DIAGRAM_GROUP_CODE" val="l1-1"/>
  <p:tag name="KSO_WM_DIAGRAM_MAX_ITEMCNT" val="3"/>
  <p:tag name="KSO_WM_DIAGRAM_MIN_ITEMCNT" val="2"/>
  <p:tag name="KSO_WM_DIAGRAM_VIRTUALLY_FRAME" val="{&quot;height&quot;:375.51040284631637,&quot;left&quot;:54.80007874015746,&quot;top&quot;:110.41369621463704,&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333333&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以便观者准确地理解您传达的思想。单击此处添加文本具体内容，简明扼要地阐述您的观点，单击此处添加文本具体内容。"/>
  <p:tag name="KSO_WM_UNIT_USESOURCEFORMAT_APPLY" val="1"/>
</p:tagLst>
</file>

<file path=ppt/tags/tag11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99_1*l_h_a*1_1_1"/>
  <p:tag name="KSO_WM_TEMPLATE_CATEGORY" val="diagram"/>
  <p:tag name="KSO_WM_TEMPLATE_INDEX" val="20231799"/>
  <p:tag name="KSO_WM_UNIT_LAYERLEVEL" val="1_1_1"/>
  <p:tag name="KSO_WM_TAG_VERSION" val="3.0"/>
  <p:tag name="KSO_WM_BEAUTIFY_FLAG" val="#wm#"/>
  <p:tag name="KSO_WM_UNIT_TEXT_FILL_FORE_SCHEMECOLOR_INDEX_BRIGHTNESS" val="0.15"/>
  <p:tag name="KSO_WM_DIAGRAM_VERSION" val="3"/>
  <p:tag name="KSO_WM_DIAGRAM_COLOR_TRICK" val="3"/>
  <p:tag name="KSO_WM_DIAGRAM_COLOR_TEXT_CAN_REMOVE" val="n"/>
  <p:tag name="KSO_WM_DIAGRAM_GROUP_CODE" val="l1-1"/>
  <p:tag name="KSO_WM_DIAGRAM_MAX_ITEMCNT" val="3"/>
  <p:tag name="KSO_WM_DIAGRAM_MIN_ITEMCNT" val="2"/>
  <p:tag name="KSO_WM_DIAGRAM_VIRTUALLY_FRAME" val="{&quot;height&quot;:375.51040284631637,&quot;left&quot;:54.80007874015746,&quot;top&quot;:110.41369621463704,&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项标题"/>
  <p:tag name="KSO_WM_UNIT_USESOURCEFORMAT_APPLY" val="1"/>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2_2"/>
  <p:tag name="KSO_WM_UNIT_ID" val="diagram20231799_1*l_h_i*1_2_2"/>
  <p:tag name="KSO_WM_TEMPLATE_CATEGORY" val="diagram"/>
  <p:tag name="KSO_WM_TEMPLATE_INDEX" val="20231799"/>
  <p:tag name="KSO_WM_UNIT_LAYERLEVEL" val="1_1_1"/>
  <p:tag name="KSO_WM_TAG_VERSION" val="3.0"/>
  <p:tag name="KSO_WM_DIAGRAM_GROUP_CODE" val="l1-1"/>
  <p:tag name="KSO_WM_DIAGRAM_VERSION" val="3"/>
  <p:tag name="KSO_WM_DIAGRAM_COLOR_TRICK" val="3"/>
  <p:tag name="KSO_WM_DIAGRAM_COLOR_TEXT_CAN_REMOVE" val="n"/>
  <p:tag name="KSO_WM_DIAGRAM_MAX_ITEMCNT" val="3"/>
  <p:tag name="KSO_WM_DIAGRAM_MIN_ITEMCNT" val="2"/>
  <p:tag name="KSO_WM_DIAGRAM_VIRTUALLY_FRAME" val="{&quot;height&quot;:375.51040284631637,&quot;left&quot;:54.80007874015746,&quot;top&quot;:110.41369621463704,&quot;width&quot;:850.4}"/>
  <p:tag name="KSO_WM_DIAGRAM_COLOR_MATCH_VALUE" val="{&quot;shape&quot;:{&quot;fill&quot;:{&quot;solid&quot;:{&quot;brightness&quot;:0,&quot;colorType&quot;:1,&quot;foreColorIndex&quot;:6,&quot;transparency&quot;:0},&quot;type&quot;:1},&quot;glow&quot;:{&quot;colorType&quot;:0},&quot;line&quot;:{&quot;type&quot;:0},&quot;shadow&quot;:{&quot;brightness&quot;:-0.25,&quot;colorType&quot;:1,&quot;foreColorIndex&quot;:14,&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
  <p:tag name="KSO_WM_UNIT_SHADOW_SCHEMECOLOR_INDEX" val="14"/>
  <p:tag name="KSO_WM_UNIT_TEXT_FILL_FORE_SCHEMECOLOR_INDEX" val="13"/>
  <p:tag name="KSO_WM_UNIT_TEXT_FILL_TYPE" val="1"/>
  <p:tag name="KSO_WM_UNIT_USESOURCEFORMAT_APPLY" val="1"/>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2_1"/>
  <p:tag name="KSO_WM_UNIT_ID" val="diagram20231799_1*l_h_i*1_2_1"/>
  <p:tag name="KSO_WM_TEMPLATE_CATEGORY" val="diagram"/>
  <p:tag name="KSO_WM_TEMPLATE_INDEX" val="20231799"/>
  <p:tag name="KSO_WM_UNIT_LAYERLEVEL" val="1_1_1"/>
  <p:tag name="KSO_WM_TAG_VERSION" val="3.0"/>
  <p:tag name="KSO_WM_DIAGRAM_GROUP_CODE" val="l1-1"/>
  <p:tag name="KSO_WM_DIAGRAM_VERSION" val="3"/>
  <p:tag name="KSO_WM_DIAGRAM_COLOR_TRICK" val="3"/>
  <p:tag name="KSO_WM_DIAGRAM_COLOR_TEXT_CAN_REMOVE" val="n"/>
  <p:tag name="KSO_WM_DIAGRAM_MAX_ITEMCNT" val="3"/>
  <p:tag name="KSO_WM_DIAGRAM_MIN_ITEMCNT" val="2"/>
  <p:tag name="KSO_WM_DIAGRAM_VIRTUALLY_FRAME" val="{&quot;height&quot;:375.51040284631637,&quot;left&quot;:54.80007874015746,&quot;top&quot;:110.41369621463704,&quot;width&quot;:850.4}"/>
  <p:tag name="KSO_WM_DIAGRAM_COLOR_MATCH_VALUE" val="{&quot;shape&quot;:{&quot;fill&quot;:{&quot;solid&quot;:{&quot;brightness&quot;:0,&quot;colorType&quot;:2,&quot;rgb&quot;:&quot;#ffffff&quot;,&quot;transparency&quot;:0},&quot;type&quot;:1},&quot;glow&quot;:{&quot;colorType&quot;:0},&quot;line&quot;:{&quot;type&quot;:0},&quot;shadow&quot;:{&quot;brightness&quot;:0.25,&quot;colorType&quot;:1,&quot;foreColorIndex&quot;:13,&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13"/>
  <p:tag name="KSO_WM_UNIT_TEXT_FILL_FORE_SCHEMECOLOR_INDEX" val="2"/>
  <p:tag name="KSO_WM_UNIT_TEXT_FILL_TYPE" val="1"/>
  <p:tag name="KSO_WM_UNIT_USESOURCEFORMAT_APPLY" val="1"/>
</p:tagLst>
</file>

<file path=ppt/tags/tag114.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799_1*l_h_f*1_2_1"/>
  <p:tag name="KSO_WM_TEMPLATE_CATEGORY" val="diagram"/>
  <p:tag name="KSO_WM_TEMPLATE_INDEX" val="20231799"/>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3"/>
  <p:tag name="KSO_WM_DIAGRAM_COLOR_TEXT_CAN_REMOVE" val="n"/>
  <p:tag name="KSO_WM_DIAGRAM_GROUP_CODE" val="l1-1"/>
  <p:tag name="KSO_WM_DIAGRAM_MAX_ITEMCNT" val="3"/>
  <p:tag name="KSO_WM_DIAGRAM_MIN_ITEMCNT" val="2"/>
  <p:tag name="KSO_WM_DIAGRAM_VIRTUALLY_FRAME" val="{&quot;height&quot;:375.51040284631637,&quot;left&quot;:54.80007874015746,&quot;top&quot;:110.41369621463704,&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333333&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以便观者准确地理解您传达的思想。单击此处添加文本具体内容，简明扼要地阐述您的观点，单击此处添加文本具体内容。"/>
  <p:tag name="KSO_WM_UNIT_USESOURCEFORMAT_APPLY" val="1"/>
</p:tagLst>
</file>

<file path=ppt/tags/tag11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99_1*l_h_a*1_2_1"/>
  <p:tag name="KSO_WM_TEMPLATE_CATEGORY" val="diagram"/>
  <p:tag name="KSO_WM_TEMPLATE_INDEX" val="20231799"/>
  <p:tag name="KSO_WM_UNIT_LAYERLEVEL" val="1_1_1"/>
  <p:tag name="KSO_WM_TAG_VERSION" val="3.0"/>
  <p:tag name="KSO_WM_BEAUTIFY_FLAG" val="#wm#"/>
  <p:tag name="KSO_WM_UNIT_TEXT_FILL_FORE_SCHEMECOLOR_INDEX_BRIGHTNESS" val="0.15"/>
  <p:tag name="KSO_WM_DIAGRAM_VERSION" val="3"/>
  <p:tag name="KSO_WM_DIAGRAM_COLOR_TRICK" val="3"/>
  <p:tag name="KSO_WM_DIAGRAM_COLOR_TEXT_CAN_REMOVE" val="n"/>
  <p:tag name="KSO_WM_DIAGRAM_GROUP_CODE" val="l1-1"/>
  <p:tag name="KSO_WM_DIAGRAM_MAX_ITEMCNT" val="3"/>
  <p:tag name="KSO_WM_DIAGRAM_MIN_ITEMCNT" val="2"/>
  <p:tag name="KSO_WM_DIAGRAM_VIRTUALLY_FRAME" val="{&quot;height&quot;:375.51040284631637,&quot;left&quot;:54.80007874015746,&quot;top&quot;:110.41369621463704,&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项标题"/>
  <p:tag name="KSO_WM_UNIT_USESOURCEFORMAT_APPLY" val="1"/>
</p:tagLst>
</file>

<file path=ppt/tags/tag116.xml><?xml version="1.0" encoding="utf-8"?>
<p:tagLst xmlns:a="http://schemas.openxmlformats.org/drawingml/2006/main" xmlns:r="http://schemas.openxmlformats.org/officeDocument/2006/relationships" xmlns:p="http://schemas.openxmlformats.org/presentationml/2006/main">
  <p:tag name="KSO_WM_SLIDE_ID" val="diagram20231799_2"/>
  <p:tag name="KSO_WM_TEMPLATE_SUBCATEGORY" val="0"/>
  <p:tag name="KSO_WM_TEMPLATE_MASTER_TYPE" val="0"/>
  <p:tag name="KSO_WM_TEMPLATE_COLOR_TYPE" val="0"/>
  <p:tag name="KSO_WM_SLIDE_ITEM_CNT" val="3"/>
  <p:tag name="KSO_WM_SLIDE_INDEX" val="2"/>
  <p:tag name="KSO_WM_DIAGRAM_GROUP_CODE" val="l1-1"/>
  <p:tag name="KSO_WM_SLIDE_DIAGTYPE" val="l"/>
  <p:tag name="KSO_WM_TAG_VERSION" val="3.0"/>
  <p:tag name="KSO_WM_BEAUTIFY_FLAG" val="#wm#"/>
  <p:tag name="KSO_WM_TEMPLATE_CATEGORY" val="diagram"/>
  <p:tag name="KSO_WM_TEMPLATE_INDEX" val="20231799"/>
  <p:tag name="KSO_WM_SLIDE_LAYOUT" val="a_l"/>
  <p:tag name="KSO_WM_SLIDE_LAYOUT_CNT" val="1_1"/>
  <p:tag name="KSO_WM_SLIDE_TYPE" val="text"/>
  <p:tag name="KSO_WM_SLIDE_SUBTYPE" val="diag"/>
  <p:tag name="KSO_WM_SLIDE_SIZE" val="850.4*374.662"/>
  <p:tag name="KSO_WM_SLIDE_POSITION" val="54.8001*110.838"/>
  <p:tag name="KSO_WM_SPECIAL_SOURCE" val="bdnull"/>
</p:tagLst>
</file>

<file path=ppt/tags/tag11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799_2*a*1"/>
  <p:tag name="KSO_WM_TEMPLATE_CATEGORY" val="diagram"/>
  <p:tag name="KSO_WM_TEMPLATE_INDEX" val="20231799"/>
  <p:tag name="KSO_WM_UNIT_LAYERLEVEL" val="1"/>
  <p:tag name="KSO_WM_TAG_VERSION" val="3.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1_2"/>
  <p:tag name="KSO_WM_UNIT_ID" val="diagram20231799_1*l_h_i*1_1_2"/>
  <p:tag name="KSO_WM_TEMPLATE_CATEGORY" val="diagram"/>
  <p:tag name="KSO_WM_TEMPLATE_INDEX" val="20231799"/>
  <p:tag name="KSO_WM_UNIT_LAYERLEVEL" val="1_1_1"/>
  <p:tag name="KSO_WM_TAG_VERSION" val="3.0"/>
  <p:tag name="KSO_WM_DIAGRAM_GROUP_CODE" val="l1-1"/>
  <p:tag name="KSO_WM_DIAGRAM_VERSION" val="3"/>
  <p:tag name="KSO_WM_DIAGRAM_COLOR_TRICK" val="3"/>
  <p:tag name="KSO_WM_DIAGRAM_COLOR_TEXT_CAN_REMOVE" val="n"/>
  <p:tag name="KSO_WM_DIAGRAM_MAX_ITEMCNT" val="3"/>
  <p:tag name="KSO_WM_DIAGRAM_MIN_ITEMCNT" val="2"/>
  <p:tag name="KSO_WM_DIAGRAM_VIRTUALLY_FRAME" val="{&quot;height&quot;:375.51040284631637,&quot;left&quot;:54.80007874015746,&quot;top&quot;:110.41369621463704,&quot;width&quot;:850.4}"/>
  <p:tag name="KSO_WM_DIAGRAM_COLOR_MATCH_VALUE" val="{&quot;shape&quot;:{&quot;fill&quot;:{&quot;solid&quot;:{&quot;brightness&quot;:0,&quot;colorType&quot;:1,&quot;foreColorIndex&quot;:5,&quot;transparency&quot;:0},&quot;type&quot;:1},&quot;glow&quot;:{&quot;colorType&quot;:0},&quot;line&quot;:{&quot;type&quot;:0},&quot;shadow&quot;:{&quot;brightness&quot;:-0.25,&quot;colorType&quot;:1,&quot;foreColorIndex&quot;:14,&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SHADOW_SCHEMECOLOR_INDEX" val="14"/>
  <p:tag name="KSO_WM_UNIT_TEXT_FILL_FORE_SCHEMECOLOR_INDEX" val="13"/>
  <p:tag name="KSO_WM_UNIT_TEXT_FILL_TYPE" val="1"/>
  <p:tag name="KSO_WM_UNIT_USESOURCEFORMAT_APPLY" val="1"/>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1_1"/>
  <p:tag name="KSO_WM_UNIT_ID" val="diagram20231799_1*l_h_i*1_1_1"/>
  <p:tag name="KSO_WM_TEMPLATE_CATEGORY" val="diagram"/>
  <p:tag name="KSO_WM_TEMPLATE_INDEX" val="20231799"/>
  <p:tag name="KSO_WM_UNIT_LAYERLEVEL" val="1_1_1"/>
  <p:tag name="KSO_WM_TAG_VERSION" val="3.0"/>
  <p:tag name="KSO_WM_DIAGRAM_GROUP_CODE" val="l1-1"/>
  <p:tag name="KSO_WM_DIAGRAM_VERSION" val="3"/>
  <p:tag name="KSO_WM_DIAGRAM_COLOR_TRICK" val="3"/>
  <p:tag name="KSO_WM_DIAGRAM_COLOR_TEXT_CAN_REMOVE" val="n"/>
  <p:tag name="KSO_WM_DIAGRAM_MAX_ITEMCNT" val="3"/>
  <p:tag name="KSO_WM_DIAGRAM_MIN_ITEMCNT" val="2"/>
  <p:tag name="KSO_WM_DIAGRAM_VIRTUALLY_FRAME" val="{&quot;height&quot;:375.51040284631637,&quot;left&quot;:54.80007874015746,&quot;top&quot;:110.41369621463704,&quot;width&quot;:850.4}"/>
  <p:tag name="KSO_WM_DIAGRAM_COLOR_MATCH_VALUE" val="{&quot;shape&quot;:{&quot;fill&quot;:{&quot;solid&quot;:{&quot;brightness&quot;:0,&quot;colorType&quot;:2,&quot;rgb&quot;:&quot;#ffffff&quot;,&quot;transparency&quot;:0},&quot;type&quot;:1},&quot;glow&quot;:{&quot;colorType&quot;:0},&quot;line&quot;:{&quot;type&quot;:0},&quot;shadow&quot;:{&quot;brightness&quot;:0.25,&quot;colorType&quot;:1,&quot;foreColorIndex&quot;:13,&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13"/>
  <p:tag name="KSO_WM_UNIT_TEXT_FILL_FORE_SCHEMECOLOR_INDEX" val="2"/>
  <p:tag name="KSO_WM_UNIT_TEXT_FILL_TYPE" val="1"/>
  <p:tag name="KSO_WM_UNIT_USESOURCEFORMAT_APPLY" val="1"/>
</p:tagLst>
</file>

<file path=ppt/tags/tag120.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799_1*l_h_f*1_1_1"/>
  <p:tag name="KSO_WM_TEMPLATE_CATEGORY" val="diagram"/>
  <p:tag name="KSO_WM_TEMPLATE_INDEX" val="20231799"/>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3"/>
  <p:tag name="KSO_WM_DIAGRAM_COLOR_TEXT_CAN_REMOVE" val="n"/>
  <p:tag name="KSO_WM_DIAGRAM_GROUP_CODE" val="l1-1"/>
  <p:tag name="KSO_WM_DIAGRAM_MAX_ITEMCNT" val="3"/>
  <p:tag name="KSO_WM_DIAGRAM_MIN_ITEMCNT" val="2"/>
  <p:tag name="KSO_WM_DIAGRAM_VIRTUALLY_FRAME" val="{&quot;height&quot;:375.51040284631637,&quot;left&quot;:54.80007874015746,&quot;top&quot;:110.41369621463704,&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333333&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以便观者准确地理解您传达的思想。单击此处添加文本具体内容，简明扼要地阐述您的观点，单击此处添加文本具体内容。"/>
  <p:tag name="KSO_WM_UNIT_USESOURCEFORMAT_APPLY" val="1"/>
</p:tagLst>
</file>

<file path=ppt/tags/tag12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99_1*l_h_a*1_1_1"/>
  <p:tag name="KSO_WM_TEMPLATE_CATEGORY" val="diagram"/>
  <p:tag name="KSO_WM_TEMPLATE_INDEX" val="20231799"/>
  <p:tag name="KSO_WM_UNIT_LAYERLEVEL" val="1_1_1"/>
  <p:tag name="KSO_WM_TAG_VERSION" val="3.0"/>
  <p:tag name="KSO_WM_BEAUTIFY_FLAG" val="#wm#"/>
  <p:tag name="KSO_WM_UNIT_TEXT_FILL_FORE_SCHEMECOLOR_INDEX_BRIGHTNESS" val="0.15"/>
  <p:tag name="KSO_WM_DIAGRAM_VERSION" val="3"/>
  <p:tag name="KSO_WM_DIAGRAM_COLOR_TRICK" val="3"/>
  <p:tag name="KSO_WM_DIAGRAM_COLOR_TEXT_CAN_REMOVE" val="n"/>
  <p:tag name="KSO_WM_DIAGRAM_GROUP_CODE" val="l1-1"/>
  <p:tag name="KSO_WM_DIAGRAM_MAX_ITEMCNT" val="3"/>
  <p:tag name="KSO_WM_DIAGRAM_MIN_ITEMCNT" val="2"/>
  <p:tag name="KSO_WM_DIAGRAM_VIRTUALLY_FRAME" val="{&quot;height&quot;:375.51040284631637,&quot;left&quot;:54.80007874015746,&quot;top&quot;:110.41369621463704,&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项标题"/>
  <p:tag name="KSO_WM_UNIT_USESOURCEFORMAT_APPLY" val="1"/>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2_2"/>
  <p:tag name="KSO_WM_UNIT_ID" val="diagram20231799_1*l_h_i*1_2_2"/>
  <p:tag name="KSO_WM_TEMPLATE_CATEGORY" val="diagram"/>
  <p:tag name="KSO_WM_TEMPLATE_INDEX" val="20231799"/>
  <p:tag name="KSO_WM_UNIT_LAYERLEVEL" val="1_1_1"/>
  <p:tag name="KSO_WM_TAG_VERSION" val="3.0"/>
  <p:tag name="KSO_WM_DIAGRAM_GROUP_CODE" val="l1-1"/>
  <p:tag name="KSO_WM_DIAGRAM_VERSION" val="3"/>
  <p:tag name="KSO_WM_DIAGRAM_COLOR_TRICK" val="3"/>
  <p:tag name="KSO_WM_DIAGRAM_COLOR_TEXT_CAN_REMOVE" val="n"/>
  <p:tag name="KSO_WM_DIAGRAM_MAX_ITEMCNT" val="3"/>
  <p:tag name="KSO_WM_DIAGRAM_MIN_ITEMCNT" val="2"/>
  <p:tag name="KSO_WM_DIAGRAM_VIRTUALLY_FRAME" val="{&quot;height&quot;:375.51040284631637,&quot;left&quot;:54.80007874015746,&quot;top&quot;:110.41369621463704,&quot;width&quot;:850.4}"/>
  <p:tag name="KSO_WM_DIAGRAM_COLOR_MATCH_VALUE" val="{&quot;shape&quot;:{&quot;fill&quot;:{&quot;solid&quot;:{&quot;brightness&quot;:0,&quot;colorType&quot;:1,&quot;foreColorIndex&quot;:6,&quot;transparency&quot;:0},&quot;type&quot;:1},&quot;glow&quot;:{&quot;colorType&quot;:0},&quot;line&quot;:{&quot;type&quot;:0},&quot;shadow&quot;:{&quot;brightness&quot;:-0.25,&quot;colorType&quot;:1,&quot;foreColorIndex&quot;:14,&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
  <p:tag name="KSO_WM_UNIT_SHADOW_SCHEMECOLOR_INDEX" val="14"/>
  <p:tag name="KSO_WM_UNIT_TEXT_FILL_FORE_SCHEMECOLOR_INDEX" val="13"/>
  <p:tag name="KSO_WM_UNIT_TEXT_FILL_TYPE" val="1"/>
  <p:tag name="KSO_WM_UNIT_USESOURCEFORMAT_APPLY" val="1"/>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l_h_i"/>
  <p:tag name="KSO_WM_UNIT_INDEX" val="1_2_1"/>
  <p:tag name="KSO_WM_UNIT_ID" val="diagram20231799_1*l_h_i*1_2_1"/>
  <p:tag name="KSO_WM_TEMPLATE_CATEGORY" val="diagram"/>
  <p:tag name="KSO_WM_TEMPLATE_INDEX" val="20231799"/>
  <p:tag name="KSO_WM_UNIT_LAYERLEVEL" val="1_1_1"/>
  <p:tag name="KSO_WM_TAG_VERSION" val="3.0"/>
  <p:tag name="KSO_WM_DIAGRAM_GROUP_CODE" val="l1-1"/>
  <p:tag name="KSO_WM_DIAGRAM_VERSION" val="3"/>
  <p:tag name="KSO_WM_DIAGRAM_COLOR_TRICK" val="3"/>
  <p:tag name="KSO_WM_DIAGRAM_COLOR_TEXT_CAN_REMOVE" val="n"/>
  <p:tag name="KSO_WM_DIAGRAM_MAX_ITEMCNT" val="3"/>
  <p:tag name="KSO_WM_DIAGRAM_MIN_ITEMCNT" val="2"/>
  <p:tag name="KSO_WM_DIAGRAM_VIRTUALLY_FRAME" val="{&quot;height&quot;:375.51040284631637,&quot;left&quot;:54.80007874015746,&quot;top&quot;:110.41369621463704,&quot;width&quot;:850.4}"/>
  <p:tag name="KSO_WM_DIAGRAM_COLOR_MATCH_VALUE" val="{&quot;shape&quot;:{&quot;fill&quot;:{&quot;solid&quot;:{&quot;brightness&quot;:0,&quot;colorType&quot;:2,&quot;rgb&quot;:&quot;#ffffff&quot;,&quot;transparency&quot;:0},&quot;type&quot;:1},&quot;glow&quot;:{&quot;colorType&quot;:0},&quot;line&quot;:{&quot;type&quot;:0},&quot;shadow&quot;:{&quot;brightness&quot;:0.25,&quot;colorType&quot;:1,&quot;foreColorIndex&quot;:13,&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13"/>
  <p:tag name="KSO_WM_UNIT_TEXT_FILL_FORE_SCHEMECOLOR_INDEX" val="2"/>
  <p:tag name="KSO_WM_UNIT_TEXT_FILL_TYPE" val="1"/>
  <p:tag name="KSO_WM_UNIT_USESOURCEFORMAT_APPLY" val="1"/>
</p:tagLst>
</file>

<file path=ppt/tags/tag124.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799_1*l_h_f*1_2_1"/>
  <p:tag name="KSO_WM_TEMPLATE_CATEGORY" val="diagram"/>
  <p:tag name="KSO_WM_TEMPLATE_INDEX" val="20231799"/>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3"/>
  <p:tag name="KSO_WM_DIAGRAM_COLOR_TEXT_CAN_REMOVE" val="n"/>
  <p:tag name="KSO_WM_DIAGRAM_GROUP_CODE" val="l1-1"/>
  <p:tag name="KSO_WM_DIAGRAM_MAX_ITEMCNT" val="3"/>
  <p:tag name="KSO_WM_DIAGRAM_MIN_ITEMCNT" val="2"/>
  <p:tag name="KSO_WM_DIAGRAM_VIRTUALLY_FRAME" val="{&quot;height&quot;:375.51040284631637,&quot;left&quot;:54.80007874015746,&quot;top&quot;:110.41369621463704,&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333333&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以便观者准确地理解您传达的思想。单击此处添加文本具体内容，简明扼要地阐述您的观点，单击此处添加文本具体内容。"/>
  <p:tag name="KSO_WM_UNIT_USESOURCEFORMAT_APPLY" val="1"/>
</p:tagLst>
</file>

<file path=ppt/tags/tag12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99_1*l_h_a*1_2_1"/>
  <p:tag name="KSO_WM_TEMPLATE_CATEGORY" val="diagram"/>
  <p:tag name="KSO_WM_TEMPLATE_INDEX" val="20231799"/>
  <p:tag name="KSO_WM_UNIT_LAYERLEVEL" val="1_1_1"/>
  <p:tag name="KSO_WM_TAG_VERSION" val="3.0"/>
  <p:tag name="KSO_WM_BEAUTIFY_FLAG" val="#wm#"/>
  <p:tag name="KSO_WM_UNIT_TEXT_FILL_FORE_SCHEMECOLOR_INDEX_BRIGHTNESS" val="0.15"/>
  <p:tag name="KSO_WM_DIAGRAM_VERSION" val="3"/>
  <p:tag name="KSO_WM_DIAGRAM_COLOR_TRICK" val="3"/>
  <p:tag name="KSO_WM_DIAGRAM_COLOR_TEXT_CAN_REMOVE" val="n"/>
  <p:tag name="KSO_WM_DIAGRAM_GROUP_CODE" val="l1-1"/>
  <p:tag name="KSO_WM_DIAGRAM_MAX_ITEMCNT" val="3"/>
  <p:tag name="KSO_WM_DIAGRAM_MIN_ITEMCNT" val="2"/>
  <p:tag name="KSO_WM_DIAGRAM_VIRTUALLY_FRAME" val="{&quot;height&quot;:375.51040284631637,&quot;left&quot;:54.80007874015746,&quot;top&quot;:110.41369621463704,&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项标题"/>
  <p:tag name="KSO_WM_UNIT_USESOURCEFORMAT_APPLY" val="1"/>
</p:tagLst>
</file>

<file path=ppt/tags/tag126.xml><?xml version="1.0" encoding="utf-8"?>
<p:tagLst xmlns:a="http://schemas.openxmlformats.org/drawingml/2006/main" xmlns:r="http://schemas.openxmlformats.org/officeDocument/2006/relationships" xmlns:p="http://schemas.openxmlformats.org/presentationml/2006/main">
  <p:tag name="KSO_WM_SLIDE_ID" val="diagram20231870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1870"/>
  <p:tag name="KSO_WM_SLIDE_TYPE" val="text"/>
  <p:tag name="KSO_WM_SLIDE_SUBTYPE" val="diag"/>
  <p:tag name="KSO_WM_SLIDE_SIZE" val="863.95*383.55"/>
  <p:tag name="KSO_WM_SLIDE_POSITION" val="48*118.2"/>
  <p:tag name="KSO_WM_SLIDE_LAYOUT" val="a_l"/>
  <p:tag name="KSO_WM_SLIDE_LAYOUT_CNT" val="1_1"/>
  <p:tag name="KSO_WM_SPECIAL_SOURCE" val="bdnull"/>
  <p:tag name="KSO_WM_DIAGRAM_GROUP_CODE" val="l1-1"/>
  <p:tag name="KSO_WM_SLIDE_DIAGTYPE" val="l"/>
</p:tagLst>
</file>

<file path=ppt/tags/tag12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31870_2*a*1"/>
  <p:tag name="KSO_WM_TEMPLATE_CATEGORY" val="diagram"/>
  <p:tag name="KSO_WM_TEMPLATE_INDEX" val="20231870"/>
  <p:tag name="KSO_WM_UNIT_LAYERLEVEL" val="1"/>
  <p:tag name="KSO_WM_TAG_VERSION" val="3.0"/>
  <p:tag name="KSO_WM_BEAUTIFY_FLAG" val="#wm#"/>
  <p:tag name="KSO_WM_UNIT_TEXT_TYPE" val="1"/>
  <p:tag name="KSO_WM_DIAGRAM_GROUP_CODE" val="l1-1"/>
  <p:tag name="KSO_WM_UNIT_PRESET_TEXT" val="单击此处添加页面标题"/>
  <p:tag name="KSO_WM_UNIT_TEXT_FILL_FORE_SCHEMECOLOR_INDEX" val="13"/>
  <p:tag name="KSO_WM_UNIT_TEXT_FILL_TYPE" val="1"/>
  <p:tag name="KSO_WM_UNIT_USESOURCEFORMAT_APPLY" val="1"/>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870_1*l_h_i*1_1_1"/>
  <p:tag name="KSO_WM_TEMPLATE_CATEGORY" val="diagram"/>
  <p:tag name="KSO_WM_TEMPLATE_INDEX" val="20231870"/>
  <p:tag name="KSO_WM_UNIT_LAYERLEVEL" val="1_1_1"/>
  <p:tag name="KSO_WM_TAG_VERSION" val="3.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6"/>
  <p:tag name="KSO_WM_DIAGRAM_MAX_ITEMCNT" val="4"/>
  <p:tag name="KSO_WM_DIAGRAM_MIN_ITEMCNT" val="2"/>
  <p:tag name="KSO_WM_DIAGRAM_VIRTUALLY_FRAME" val="{&quot;height&quot;:383.50560342017275,&quot;left&quot;:48,&quot;top&quot;:118.22219828991365,&quot;width&quot;:863.95}"/>
  <p:tag name="KSO_WM_DIAGRAM_COLOR_MATCH_VALUE" val="{&quot;shape&quot;:{&quot;fill&quot;:{&quot;solid&quot;:{&quot;brightness&quot;:0.6000000238418579,&quot;colorType&quot;:1,&quot;foreColorIndex&quot;:5,&quot;transparency&quot;:0.7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129.xml><?xml version="1.0" encoding="utf-8"?>
<p:tagLst xmlns:a="http://schemas.openxmlformats.org/drawingml/2006/main" xmlns:r="http://schemas.openxmlformats.org/officeDocument/2006/relationships"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870_1*l_h_f*1_1_1"/>
  <p:tag name="KSO_WM_TEMPLATE_CATEGORY" val="diagram"/>
  <p:tag name="KSO_WM_TEMPLATE_INDEX" val="20231870"/>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简明扼要地阐述观点。根据需要可酌情增减文字，以便观者准确地理解您传达的思想。单击添加文本具体内容，简明扼要地阐述您的内容观点。"/>
  <p:tag name="KSO_WM_UNIT_TEXT_FILL_FORE_SCHEMECOLOR_INDEX" val="1"/>
  <p:tag name="KSO_WM_UNIT_TEXT_FILL_TYPE" val="1"/>
  <p:tag name="KSO_WM_UNIT_TEXT_TYPE" val="1"/>
  <p:tag name="KSO_WM_DIAGRAM_MAX_ITEMCNT" val="4"/>
  <p:tag name="KSO_WM_DIAGRAM_MIN_ITEMCNT" val="2"/>
  <p:tag name="KSO_WM_DIAGRAM_VIRTUALLY_FRAME" val="{&quot;height&quot;:383.50560342017275,&quot;left&quot;:48,&quot;top&quot;:118.22219828991365,&quot;width&quot;:863.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3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870_1*l_h_a*1_1_1"/>
  <p:tag name="KSO_WM_TEMPLATE_CATEGORY" val="diagram"/>
  <p:tag name="KSO_WM_TEMPLATE_INDEX" val="20231870"/>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标题"/>
  <p:tag name="KSO_WM_UNIT_TEXT_FILL_FORE_SCHEMECOLOR_INDEX" val="1"/>
  <p:tag name="KSO_WM_UNIT_TEXT_FILL_TYPE" val="1"/>
  <p:tag name="KSO_WM_UNIT_TEXT_TYPE" val="1"/>
  <p:tag name="KSO_WM_DIAGRAM_MAX_ITEMCNT" val="4"/>
  <p:tag name="KSO_WM_DIAGRAM_MIN_ITEMCNT" val="2"/>
  <p:tag name="KSO_WM_DIAGRAM_VIRTUALLY_FRAME" val="{&quot;height&quot;:383.50560342017275,&quot;left&quot;:48,&quot;top&quot;:118.22219828991365,&quot;width&quot;:863.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31.xml><?xml version="1.0" encoding="utf-8"?>
<p:tagLst xmlns:a="http://schemas.openxmlformats.org/drawingml/2006/main" xmlns:r="http://schemas.openxmlformats.org/officeDocument/2006/relationships"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870_1*l_h_f*1_2_1"/>
  <p:tag name="KSO_WM_TEMPLATE_CATEGORY" val="diagram"/>
  <p:tag name="KSO_WM_TEMPLATE_INDEX" val="20231870"/>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简明扼要地阐述您的观点。根据需要可酌情增减文字，以便观者准确地理解您传达的思想。单击此处添加文本具体内容，简明扼要地阐述您的内容观点。"/>
  <p:tag name="KSO_WM_UNIT_TEXT_TYPE" val="1"/>
  <p:tag name="KSO_WM_DIAGRAM_MAX_ITEMCNT" val="4"/>
  <p:tag name="KSO_WM_DIAGRAM_MIN_ITEMCNT" val="2"/>
  <p:tag name="KSO_WM_DIAGRAM_VIRTUALLY_FRAME" val="{&quot;height&quot;:383.50560342017275,&quot;left&quot;:48,&quot;top&quot;:118.22219828991365,&quot;width&quot;:863.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870_1*l_h_a*1_2_1"/>
  <p:tag name="KSO_WM_TEMPLATE_CATEGORY" val="diagram"/>
  <p:tag name="KSO_WM_TEMPLATE_INDEX" val="20231870"/>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标题"/>
  <p:tag name="KSO_WM_UNIT_TEXT_TYPE" val="1"/>
  <p:tag name="KSO_WM_DIAGRAM_MAX_ITEMCNT" val="4"/>
  <p:tag name="KSO_WM_DIAGRAM_MIN_ITEMCNT" val="2"/>
  <p:tag name="KSO_WM_DIAGRAM_VIRTUALLY_FRAME" val="{&quot;height&quot;:383.50560342017275,&quot;left&quot;:48,&quot;top&quot;:118.22219828991365,&quot;width&quot;:863.9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TotalTime>
  <Words>1018</Words>
  <Application>Microsoft Office PowerPoint</Application>
  <PresentationFormat>宽屏</PresentationFormat>
  <Paragraphs>97</Paragraphs>
  <Slides>14</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14</vt:i4>
      </vt:variant>
    </vt:vector>
  </HeadingPairs>
  <TitlesOfParts>
    <vt:vector size="21" baseType="lpstr">
      <vt:lpstr>黑体</vt:lpstr>
      <vt:lpstr>宋体</vt:lpstr>
      <vt:lpstr>微软雅黑</vt:lpstr>
      <vt:lpstr>Arial</vt:lpstr>
      <vt:lpstr>Calibri</vt:lpstr>
      <vt:lpstr>Wingdings</vt:lpstr>
      <vt:lpstr>WPS</vt:lpstr>
      <vt:lpstr>基于 Spring Boot 的实验室管理系统设计与实现</vt:lpstr>
      <vt:lpstr>目录</vt:lpstr>
      <vt:lpstr>课题背景与意义</vt:lpstr>
      <vt:lpstr>系统需求与可行性</vt:lpstr>
      <vt:lpstr>系统结构设计</vt:lpstr>
      <vt:lpstr>系统功能图（ER图） </vt:lpstr>
      <vt:lpstr>管理端功能</vt:lpstr>
      <vt:lpstr>管理员端功能</vt:lpstr>
      <vt:lpstr>管理员端功能</vt:lpstr>
      <vt:lpstr>用户端功能</vt:lpstr>
      <vt:lpstr>用户端功能</vt:lpstr>
      <vt:lpstr>系统测试与结果</vt:lpstr>
      <vt:lpstr>系统测试与结果</vt:lpstr>
      <vt:lpstr>结论及收获</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s206-34</dc:creator>
  <cp:lastModifiedBy>test</cp:lastModifiedBy>
  <cp:revision>176</cp:revision>
  <dcterms:created xsi:type="dcterms:W3CDTF">2019-06-19T02:08:00Z</dcterms:created>
  <dcterms:modified xsi:type="dcterms:W3CDTF">2025-11-20T03:00:52Z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4A8F05C7C13B469495217055F6981F09_11</vt:lpwstr>
  </property>
</Properties>
</file>